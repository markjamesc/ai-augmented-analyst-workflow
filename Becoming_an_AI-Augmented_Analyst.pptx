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notesMaster" Target="notesMasters/notesMaster1.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s>
</file>

<file path=ppt/notesMasters/_rels/notesMaster1.xml.rels><?xml version="1.0" encoding="utf-8"?>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 Id="rId3" Type="http://schemas.openxmlformats.org/officeDocument/2006/relationships/hyperlink" Target="https://www.linkedin.com/in/mark-ciganovic" TargetMode="External"/>
  <Relationship Id="rId4" Type="http://schemas.openxmlformats.org/officeDocument/2006/relationships/hyperlink" Target="https://github.com/markjamesc" TargetMode="Externa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210312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BECOMING AN AI-AUGMENTED ANALYST</a:t>
            </a:r>
            <a:endParaRPr lang="en-US" sz="3400" dirty="0"/>
          </a:p>
        </p:txBody>
      </p:sp>
      <p:sp>
        <p:nvSpPr>
          <p:cNvPr id="3" name="Text 1"/>
          <p:cNvSpPr/>
          <p:nvPr/>
        </p:nvSpPr>
        <p:spPr>
          <a:xfrm>
            <a:off x="640080" y="2880360"/>
            <a:ext cx="10515600" cy="457200"/>
          </a:xfrm>
          <a:prstGeom prst="rect">
            <a:avLst/>
          </a:prstGeom>
          <a:noFill/>
          <a:ln/>
        </p:spPr>
        <p:txBody>
          <a:bodyPr wrap="square" lIns="0" tIns="0" rIns="0" bIns="0" rtlCol="0" anchor="ctr"/>
          <a:lstStyle/>
          <a:p>
            <a:pPr indent="0" marL="0">
              <a:buNone/>
            </a:pPr>
            <a:r>
              <a:rPr lang="en-US" sz="2000" dirty="0">
                <a:solidFill>
                  <a:srgbClr val="94A3B8"/>
                </a:solidFill>
                <a:latin typeface="Arial" pitchFamily="34" charset="0"/>
                <a:ea typeface="Arial" pitchFamily="34" charset="-122"/>
                <a:cs typeface="Arial" pitchFamily="34" charset="-120"/>
              </a:rPr>
              <a:t>A five-stage workflow that turns technical reporting into decision support</a:t>
            </a:r>
            <a:endParaRPr lang="en-US" sz="2000" dirty="0"/>
          </a:p>
        </p:txBody>
      </p:sp>
      <p:sp>
        <p:nvSpPr>
          <p:cNvPr id="4" name="Shape 2"/>
          <p:cNvSpPr/>
          <p:nvPr/>
        </p:nvSpPr>
        <p:spPr>
          <a:xfrm>
            <a:off x="640080" y="3566160"/>
            <a:ext cx="2286000" cy="54864"/>
          </a:xfrm>
          <a:prstGeom prst="rect">
            <a:avLst/>
          </a:prstGeom>
          <a:solidFill>
            <a:srgbClr val="F59E0B"/>
          </a:solidFill>
          <a:ln/>
        </p:spPr>
      </p:sp>
      <p:sp>
        <p:nvSpPr>
          <p:cNvPr id="5" name="Text 3"/>
          <p:cNvSpPr/>
          <p:nvPr/>
        </p:nvSpPr>
        <p:spPr>
          <a:xfrm>
            <a:off x="640080" y="3931920"/>
            <a:ext cx="10058400" cy="73152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This deck presents the process.</a:t>
            </a:r>
            <a:endParaRPr lang="en-US" sz="1600" dirty="0"/>
          </a:p>
          <a:p>
            <a:pPr indent="0" marL="0">
              <a:buNone/>
            </a:pPr>
            <a:r>
              <a:rPr lang="en-US" sz="1600" dirty="0">
                <a:solidFill>
                  <a:srgbClr val="94A3B8"/>
                </a:solidFill>
                <a:latin typeface="Arial" pitchFamily="34" charset="0"/>
                <a:ea typeface="Arial" pitchFamily="34" charset="-122"/>
                <a:cs typeface="Arial" pitchFamily="34" charset="-120"/>
              </a:rPr>
              <a:t>Worked examples with real findings will be shown separately.</a:t>
            </a:r>
            <a:endParaRPr lang="en-US" sz="1600" dirty="0"/>
          </a:p>
        </p:txBody>
      </p:sp>
      <p:sp>
        <p:nvSpPr>
          <p:cNvPr id="6" name="Text 4"/>
          <p:cNvSpPr/>
          <p:nvPr/>
        </p:nvSpPr>
        <p:spPr>
          <a:xfrm>
            <a:off x="640080" y="6035040"/>
            <a:ext cx="5486400" cy="320040"/>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Mark Ciganovic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2004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THE TECHNICAL WORKFLOW WAS STRONG — BUT INCOMPLETE</a:t>
            </a:r>
            <a:endParaRPr lang="en-US" sz="1300" dirty="0"/>
          </a:p>
        </p:txBody>
      </p:sp>
      <p:sp>
        <p:nvSpPr>
          <p:cNvPr id="3" name="Text 1"/>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Reporting alone is not decision support</a:t>
            </a:r>
            <a:endParaRPr lang="en-US" sz="2600" dirty="0"/>
          </a:p>
        </p:txBody>
      </p:sp>
      <p:sp>
        <p:nvSpPr>
          <p:cNvPr id="4" name="Shape 2"/>
          <p:cNvSpPr/>
          <p:nvPr/>
        </p:nvSpPr>
        <p:spPr>
          <a:xfrm>
            <a:off x="548640" y="1554480"/>
            <a:ext cx="5303520" cy="4114800"/>
          </a:xfrm>
          <a:prstGeom prst="rect">
            <a:avLst/>
          </a:prstGeom>
          <a:solidFill>
            <a:srgbClr val="F1F5F9"/>
          </a:solidFill>
          <a:ln/>
        </p:spPr>
      </p:sp>
      <p:sp>
        <p:nvSpPr>
          <p:cNvPr id="5" name="Text 3"/>
          <p:cNvSpPr/>
          <p:nvPr/>
        </p:nvSpPr>
        <p:spPr>
          <a:xfrm>
            <a:off x="822960" y="1783080"/>
            <a:ext cx="4754880" cy="320040"/>
          </a:xfrm>
          <a:prstGeom prst="rect">
            <a:avLst/>
          </a:prstGeom>
          <a:noFill/>
          <a:ln/>
        </p:spPr>
        <p:txBody>
          <a:bodyPr wrap="square" lIns="0" tIns="0" rIns="0" bIns="0" rtlCol="0" anchor="ctr"/>
          <a:lstStyle/>
          <a:p>
            <a:pPr indent="0" marL="0">
              <a:buNone/>
            </a:pPr>
            <a:r>
              <a:rPr lang="en-US" sz="1400" b="1" dirty="0">
                <a:solidFill>
                  <a:srgbClr val="64748B"/>
                </a:solidFill>
                <a:latin typeface="Arial" pitchFamily="34" charset="0"/>
                <a:ea typeface="Arial" pitchFamily="34" charset="-122"/>
                <a:cs typeface="Arial" pitchFamily="34" charset="-120"/>
              </a:rPr>
              <a:t>OLD REPORTING WORKFLOW</a:t>
            </a:r>
            <a:endParaRPr lang="en-US" sz="1400" dirty="0"/>
          </a:p>
        </p:txBody>
      </p:sp>
      <p:sp>
        <p:nvSpPr>
          <p:cNvPr id="6" name="Text 4"/>
          <p:cNvSpPr/>
          <p:nvPr/>
        </p:nvSpPr>
        <p:spPr>
          <a:xfrm>
            <a:off x="822960" y="2331720"/>
            <a:ext cx="4754880" cy="1828800"/>
          </a:xfrm>
          <a:prstGeom prst="rect">
            <a:avLst/>
          </a:prstGeom>
          <a:noFill/>
          <a:ln/>
        </p:spPr>
        <p:txBody>
          <a:bodyPr wrap="square" lIns="0" tIns="0" rIns="0" bIns="0" rtlCol="0" anchor="ctr"/>
          <a:lstStyle/>
          <a:p>
            <a:pPr indent="0" marL="0">
              <a:buNone/>
            </a:pPr>
            <a:r>
              <a:rPr lang="en-US" sz="1800" dirty="0">
                <a:solidFill>
                  <a:srgbClr val="1E293B"/>
                </a:solidFill>
                <a:latin typeface="Arial" pitchFamily="34" charset="0"/>
                <a:ea typeface="Arial" pitchFamily="34" charset="-122"/>
                <a:cs typeface="Arial" pitchFamily="34" charset="-120"/>
              </a:rPr>
              <a:t>Metric request</a:t>
            </a: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 SQL extraction</a:t>
            </a: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 R processing</a:t>
            </a: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 Report or dashboard</a:t>
            </a:r>
            <a:endParaRPr lang="en-US" sz="1800" dirty="0"/>
          </a:p>
        </p:txBody>
      </p:sp>
      <p:sp>
        <p:nvSpPr>
          <p:cNvPr id="7" name="Text 5"/>
          <p:cNvSpPr/>
          <p:nvPr/>
        </p:nvSpPr>
        <p:spPr>
          <a:xfrm>
            <a:off x="822960" y="4480560"/>
            <a:ext cx="4754880" cy="8229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Missing: the decision, the design,</a:t>
            </a:r>
            <a:endParaRPr lang="en-US" sz="1500" dirty="0"/>
          </a:p>
          <a:p>
            <a:pPr indent="0" marL="0">
              <a:buNone/>
            </a:pPr>
            <a:r>
              <a:rPr lang="en-US" sz="1500" dirty="0">
                <a:solidFill>
                  <a:srgbClr val="64748B"/>
                </a:solidFill>
                <a:latin typeface="Arial" pitchFamily="34" charset="0"/>
                <a:ea typeface="Arial" pitchFamily="34" charset="-122"/>
                <a:cs typeface="Arial" pitchFamily="34" charset="-120"/>
              </a:rPr>
              <a:t>and a defensible next action.</a:t>
            </a:r>
            <a:endParaRPr lang="en-US" sz="1500" dirty="0"/>
          </a:p>
        </p:txBody>
      </p:sp>
      <p:sp>
        <p:nvSpPr>
          <p:cNvPr id="8" name="Shape 6"/>
          <p:cNvSpPr/>
          <p:nvPr/>
        </p:nvSpPr>
        <p:spPr>
          <a:xfrm>
            <a:off x="6217920" y="1554480"/>
            <a:ext cx="5394960" cy="4114800"/>
          </a:xfrm>
          <a:prstGeom prst="rect">
            <a:avLst/>
          </a:prstGeom>
          <a:solidFill>
            <a:srgbClr val="0F172A"/>
          </a:solidFill>
          <a:ln/>
        </p:spPr>
      </p:sp>
      <p:sp>
        <p:nvSpPr>
          <p:cNvPr id="9" name="Text 7"/>
          <p:cNvSpPr/>
          <p:nvPr/>
        </p:nvSpPr>
        <p:spPr>
          <a:xfrm>
            <a:off x="6492240" y="1783080"/>
            <a:ext cx="4846320" cy="320040"/>
          </a:xfrm>
          <a:prstGeom prst="rect">
            <a:avLst/>
          </a:prstGeom>
          <a:noFill/>
          <a:ln/>
        </p:spPr>
        <p:txBody>
          <a:bodyPr wrap="square" lIns="0" tIns="0" rIns="0" bIns="0" rtlCol="0" anchor="ctr"/>
          <a:lstStyle/>
          <a:p>
            <a:pPr indent="0" marL="0">
              <a:buNone/>
            </a:pPr>
            <a:r>
              <a:rPr lang="en-US" sz="1400" b="1" dirty="0">
                <a:solidFill>
                  <a:srgbClr val="F59E0B"/>
                </a:solidFill>
                <a:latin typeface="Arial" pitchFamily="34" charset="0"/>
                <a:ea typeface="Arial" pitchFamily="34" charset="-122"/>
                <a:cs typeface="Arial" pitchFamily="34" charset="-120"/>
              </a:rPr>
              <a:t>WHAT WAS MISSING</a:t>
            </a:r>
            <a:endParaRPr lang="en-US" sz="1400" dirty="0"/>
          </a:p>
        </p:txBody>
      </p:sp>
      <p:sp>
        <p:nvSpPr>
          <p:cNvPr id="10" name="Text 8"/>
          <p:cNvSpPr/>
          <p:nvPr/>
        </p:nvSpPr>
        <p:spPr>
          <a:xfrm>
            <a:off x="6492240" y="2468880"/>
            <a:ext cx="4846320" cy="256032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The decision behind the request</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A deliberate analysis design</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A defensible interpretation</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A specific next action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27432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THE CORE LOGIC</a:t>
            </a:r>
            <a:endParaRPr lang="en-US" sz="1300" dirty="0"/>
          </a:p>
        </p:txBody>
      </p:sp>
      <p:sp>
        <p:nvSpPr>
          <p:cNvPr id="3" name="Text 1"/>
          <p:cNvSpPr/>
          <p:nvPr/>
        </p:nvSpPr>
        <p:spPr>
          <a:xfrm>
            <a:off x="548640" y="640080"/>
            <a:ext cx="10972800" cy="457200"/>
          </a:xfrm>
          <a:prstGeom prst="rect">
            <a:avLst/>
          </a:prstGeom>
          <a:noFill/>
          <a:ln/>
        </p:spPr>
        <p:txBody>
          <a:bodyPr wrap="square" lIns="0" tIns="0" rIns="0" bIns="0" rtlCol="0" anchor="ctr"/>
          <a:lstStyle/>
          <a:p>
            <a:pPr indent="0" marL="0">
              <a:buNone/>
            </a:pPr>
            <a:r>
              <a:rPr lang="en-US" sz="2400" b="1" dirty="0">
                <a:solidFill>
                  <a:srgbClr val="0F172A"/>
                </a:solidFill>
                <a:latin typeface="Arial" pitchFamily="34" charset="0"/>
                <a:ea typeface="Arial" pitchFamily="34" charset="-122"/>
                <a:cs typeface="Arial" pitchFamily="34" charset="-120"/>
              </a:rPr>
              <a:t>Decision → Hypothesis → Measurement → Evidence → Action</a:t>
            </a:r>
            <a:endParaRPr lang="en-US" sz="2400" dirty="0"/>
          </a:p>
        </p:txBody>
      </p:sp>
      <p:sp>
        <p:nvSpPr>
          <p:cNvPr id="4" name="Shape 2"/>
          <p:cNvSpPr/>
          <p:nvPr/>
        </p:nvSpPr>
        <p:spPr>
          <a:xfrm>
            <a:off x="457200" y="1417320"/>
            <a:ext cx="2103120" cy="3291840"/>
          </a:xfrm>
          <a:prstGeom prst="rect">
            <a:avLst/>
          </a:prstGeom>
          <a:solidFill>
            <a:srgbClr val="F1F5F9"/>
          </a:solidFill>
          <a:ln/>
        </p:spPr>
      </p:sp>
      <p:sp>
        <p:nvSpPr>
          <p:cNvPr id="5" name="Text 3"/>
          <p:cNvSpPr/>
          <p:nvPr/>
        </p:nvSpPr>
        <p:spPr>
          <a:xfrm>
            <a:off x="594360" y="1645920"/>
            <a:ext cx="1828800" cy="411480"/>
          </a:xfrm>
          <a:prstGeom prst="rect">
            <a:avLst/>
          </a:prstGeom>
          <a:noFill/>
          <a:ln/>
        </p:spPr>
        <p:txBody>
          <a:bodyPr wrap="square" lIns="0" tIns="0" rIns="0" bIns="0" rtlCol="0" anchor="ctr"/>
          <a:lstStyle/>
          <a:p>
            <a:pPr indent="0" marL="0">
              <a:buNone/>
            </a:pPr>
            <a:r>
              <a:rPr lang="en-US" sz="2000" b="1" dirty="0">
                <a:solidFill>
                  <a:srgbClr val="B45309"/>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594360" y="2194560"/>
            <a:ext cx="1828800" cy="41148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Start</a:t>
            </a:r>
            <a:endParaRPr lang="en-US" sz="1700" dirty="0"/>
          </a:p>
        </p:txBody>
      </p:sp>
      <p:sp>
        <p:nvSpPr>
          <p:cNvPr id="7" name="Text 5"/>
          <p:cNvSpPr/>
          <p:nvPr/>
        </p:nvSpPr>
        <p:spPr>
          <a:xfrm>
            <a:off x="594360" y="2834640"/>
            <a:ext cx="1828800" cy="12801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Surface possible</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decisions</a:t>
            </a:r>
            <a:endParaRPr lang="en-US" sz="1400" dirty="0"/>
          </a:p>
        </p:txBody>
      </p:sp>
      <p:sp>
        <p:nvSpPr>
          <p:cNvPr id="8" name="Shape 6"/>
          <p:cNvSpPr/>
          <p:nvPr/>
        </p:nvSpPr>
        <p:spPr>
          <a:xfrm>
            <a:off x="2743200" y="1417320"/>
            <a:ext cx="2103120" cy="3291840"/>
          </a:xfrm>
          <a:prstGeom prst="rect">
            <a:avLst/>
          </a:prstGeom>
          <a:solidFill>
            <a:srgbClr val="F1F5F9"/>
          </a:solidFill>
          <a:ln/>
        </p:spPr>
      </p:sp>
      <p:sp>
        <p:nvSpPr>
          <p:cNvPr id="9" name="Text 7"/>
          <p:cNvSpPr/>
          <p:nvPr/>
        </p:nvSpPr>
        <p:spPr>
          <a:xfrm>
            <a:off x="2880360" y="1645920"/>
            <a:ext cx="1828800" cy="411480"/>
          </a:xfrm>
          <a:prstGeom prst="rect">
            <a:avLst/>
          </a:prstGeom>
          <a:noFill/>
          <a:ln/>
        </p:spPr>
        <p:txBody>
          <a:bodyPr wrap="square" lIns="0" tIns="0" rIns="0" bIns="0" rtlCol="0" anchor="ctr"/>
          <a:lstStyle/>
          <a:p>
            <a:pPr indent="0" marL="0">
              <a:buNone/>
            </a:pPr>
            <a:r>
              <a:rPr lang="en-US" sz="2000" b="1" dirty="0">
                <a:solidFill>
                  <a:srgbClr val="B45309"/>
                </a:solidFill>
                <a:latin typeface="Arial" pitchFamily="34" charset="0"/>
                <a:ea typeface="Arial" pitchFamily="34" charset="-122"/>
                <a:cs typeface="Arial" pitchFamily="34" charset="-120"/>
              </a:rPr>
              <a:t>02</a:t>
            </a:r>
            <a:endParaRPr lang="en-US" sz="2000" dirty="0"/>
          </a:p>
        </p:txBody>
      </p:sp>
      <p:sp>
        <p:nvSpPr>
          <p:cNvPr id="10" name="Text 8"/>
          <p:cNvSpPr/>
          <p:nvPr/>
        </p:nvSpPr>
        <p:spPr>
          <a:xfrm>
            <a:off x="2880360" y="2194560"/>
            <a:ext cx="1828800" cy="41148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Framing</a:t>
            </a:r>
            <a:endParaRPr lang="en-US" sz="1700" dirty="0"/>
          </a:p>
        </p:txBody>
      </p:sp>
      <p:sp>
        <p:nvSpPr>
          <p:cNvPr id="11" name="Text 9"/>
          <p:cNvSpPr/>
          <p:nvPr/>
        </p:nvSpPr>
        <p:spPr>
          <a:xfrm>
            <a:off x="2880360" y="2834640"/>
            <a:ext cx="1828800" cy="12801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Lock one precise</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decision</a:t>
            </a:r>
            <a:endParaRPr lang="en-US" sz="1400" dirty="0"/>
          </a:p>
        </p:txBody>
      </p:sp>
      <p:sp>
        <p:nvSpPr>
          <p:cNvPr id="12" name="Shape 10"/>
          <p:cNvSpPr/>
          <p:nvPr/>
        </p:nvSpPr>
        <p:spPr>
          <a:xfrm>
            <a:off x="5029200" y="1417320"/>
            <a:ext cx="2103120" cy="3291840"/>
          </a:xfrm>
          <a:prstGeom prst="rect">
            <a:avLst/>
          </a:prstGeom>
          <a:solidFill>
            <a:srgbClr val="0F172A"/>
          </a:solidFill>
          <a:ln/>
        </p:spPr>
      </p:sp>
      <p:sp>
        <p:nvSpPr>
          <p:cNvPr id="13" name="Text 11"/>
          <p:cNvSpPr/>
          <p:nvPr/>
        </p:nvSpPr>
        <p:spPr>
          <a:xfrm>
            <a:off x="5166360" y="1645920"/>
            <a:ext cx="1828800" cy="411480"/>
          </a:xfrm>
          <a:prstGeom prst="rect">
            <a:avLst/>
          </a:prstGeom>
          <a:noFill/>
          <a:ln/>
        </p:spPr>
        <p:txBody>
          <a:bodyPr wrap="square" lIns="0" tIns="0" rIns="0" bIns="0" rtlCol="0" anchor="ctr"/>
          <a:lstStyle/>
          <a:p>
            <a:pPr indent="0" marL="0">
              <a:buNone/>
            </a:pPr>
            <a:r>
              <a:rPr lang="en-US" sz="2000" b="1" dirty="0">
                <a:solidFill>
                  <a:srgbClr val="F59E0B"/>
                </a:solidFill>
                <a:latin typeface="Arial" pitchFamily="34" charset="0"/>
                <a:ea typeface="Arial" pitchFamily="34" charset="-122"/>
                <a:cs typeface="Arial" pitchFamily="34" charset="-120"/>
              </a:rPr>
              <a:t>03</a:t>
            </a:r>
            <a:endParaRPr lang="en-US" sz="2000" dirty="0"/>
          </a:p>
        </p:txBody>
      </p:sp>
      <p:sp>
        <p:nvSpPr>
          <p:cNvPr id="14" name="Text 12"/>
          <p:cNvSpPr/>
          <p:nvPr/>
        </p:nvSpPr>
        <p:spPr>
          <a:xfrm>
            <a:off x="5166360" y="2194560"/>
            <a:ext cx="1828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Design</a:t>
            </a:r>
            <a:endParaRPr lang="en-US" sz="1700" dirty="0"/>
          </a:p>
        </p:txBody>
      </p:sp>
      <p:sp>
        <p:nvSpPr>
          <p:cNvPr id="15" name="Text 13"/>
          <p:cNvSpPr/>
          <p:nvPr/>
        </p:nvSpPr>
        <p:spPr>
          <a:xfrm>
            <a:off x="5166360" y="2834640"/>
            <a:ext cx="1828800" cy="1280160"/>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Hypothesis +</a:t>
            </a:r>
            <a:endParaRPr lang="en-US" sz="1400" dirty="0"/>
          </a:p>
          <a:p>
            <a:pPr indent="0" marL="0">
              <a:buNone/>
            </a:pPr>
            <a:r>
              <a:rPr lang="en-US" sz="1400" dirty="0">
                <a:solidFill>
                  <a:srgbClr val="CBD5E1"/>
                </a:solidFill>
                <a:latin typeface="Arial" pitchFamily="34" charset="0"/>
                <a:ea typeface="Arial" pitchFamily="34" charset="-122"/>
                <a:cs typeface="Arial" pitchFamily="34" charset="-120"/>
              </a:rPr>
              <a:t>measurement plan</a:t>
            </a:r>
            <a:endParaRPr lang="en-US" sz="1400" dirty="0"/>
          </a:p>
        </p:txBody>
      </p:sp>
      <p:sp>
        <p:nvSpPr>
          <p:cNvPr id="16" name="Shape 14"/>
          <p:cNvSpPr/>
          <p:nvPr/>
        </p:nvSpPr>
        <p:spPr>
          <a:xfrm>
            <a:off x="7315200" y="1417320"/>
            <a:ext cx="2103120" cy="3291840"/>
          </a:xfrm>
          <a:prstGeom prst="rect">
            <a:avLst/>
          </a:prstGeom>
          <a:solidFill>
            <a:srgbClr val="F1F5F9"/>
          </a:solidFill>
          <a:ln/>
        </p:spPr>
      </p:sp>
      <p:sp>
        <p:nvSpPr>
          <p:cNvPr id="17" name="Text 15"/>
          <p:cNvSpPr/>
          <p:nvPr/>
        </p:nvSpPr>
        <p:spPr>
          <a:xfrm>
            <a:off x="7452360" y="1645920"/>
            <a:ext cx="1828800" cy="411480"/>
          </a:xfrm>
          <a:prstGeom prst="rect">
            <a:avLst/>
          </a:prstGeom>
          <a:noFill/>
          <a:ln/>
        </p:spPr>
        <p:txBody>
          <a:bodyPr wrap="square" lIns="0" tIns="0" rIns="0" bIns="0" rtlCol="0" anchor="ctr"/>
          <a:lstStyle/>
          <a:p>
            <a:pPr indent="0" marL="0">
              <a:buNone/>
            </a:pPr>
            <a:r>
              <a:rPr lang="en-US" sz="2000" b="1" dirty="0">
                <a:solidFill>
                  <a:srgbClr val="B45309"/>
                </a:solidFill>
                <a:latin typeface="Arial" pitchFamily="34" charset="0"/>
                <a:ea typeface="Arial" pitchFamily="34" charset="-122"/>
                <a:cs typeface="Arial" pitchFamily="34" charset="-120"/>
              </a:rPr>
              <a:t>04</a:t>
            </a:r>
            <a:endParaRPr lang="en-US" sz="2000" dirty="0"/>
          </a:p>
        </p:txBody>
      </p:sp>
      <p:sp>
        <p:nvSpPr>
          <p:cNvPr id="18" name="Text 16"/>
          <p:cNvSpPr/>
          <p:nvPr/>
        </p:nvSpPr>
        <p:spPr>
          <a:xfrm>
            <a:off x="7452360" y="2194560"/>
            <a:ext cx="1828800" cy="41148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Execution</a:t>
            </a:r>
            <a:endParaRPr lang="en-US" sz="1700" dirty="0"/>
          </a:p>
        </p:txBody>
      </p:sp>
      <p:sp>
        <p:nvSpPr>
          <p:cNvPr id="19" name="Text 17"/>
          <p:cNvSpPr/>
          <p:nvPr/>
        </p:nvSpPr>
        <p:spPr>
          <a:xfrm>
            <a:off x="7452360" y="2834640"/>
            <a:ext cx="1828800" cy="12801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SQL + R evidence</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production</a:t>
            </a:r>
            <a:endParaRPr lang="en-US" sz="1400" dirty="0"/>
          </a:p>
        </p:txBody>
      </p:sp>
      <p:sp>
        <p:nvSpPr>
          <p:cNvPr id="20" name="Shape 18"/>
          <p:cNvSpPr/>
          <p:nvPr/>
        </p:nvSpPr>
        <p:spPr>
          <a:xfrm>
            <a:off x="9601200" y="1417320"/>
            <a:ext cx="2103120" cy="3291840"/>
          </a:xfrm>
          <a:prstGeom prst="rect">
            <a:avLst/>
          </a:prstGeom>
          <a:solidFill>
            <a:srgbClr val="F1F5F9"/>
          </a:solidFill>
          <a:ln/>
        </p:spPr>
      </p:sp>
      <p:sp>
        <p:nvSpPr>
          <p:cNvPr id="21" name="Text 19"/>
          <p:cNvSpPr/>
          <p:nvPr/>
        </p:nvSpPr>
        <p:spPr>
          <a:xfrm>
            <a:off x="9738360" y="1645920"/>
            <a:ext cx="1828800" cy="411480"/>
          </a:xfrm>
          <a:prstGeom prst="rect">
            <a:avLst/>
          </a:prstGeom>
          <a:noFill/>
          <a:ln/>
        </p:spPr>
        <p:txBody>
          <a:bodyPr wrap="square" lIns="0" tIns="0" rIns="0" bIns="0" rtlCol="0" anchor="ctr"/>
          <a:lstStyle/>
          <a:p>
            <a:pPr indent="0" marL="0">
              <a:buNone/>
            </a:pPr>
            <a:r>
              <a:rPr lang="en-US" sz="2000" b="1" dirty="0">
                <a:solidFill>
                  <a:srgbClr val="B45309"/>
                </a:solidFill>
                <a:latin typeface="Arial" pitchFamily="34" charset="0"/>
                <a:ea typeface="Arial" pitchFamily="34" charset="-122"/>
                <a:cs typeface="Arial" pitchFamily="34" charset="-120"/>
              </a:rPr>
              <a:t>05</a:t>
            </a:r>
            <a:endParaRPr lang="en-US" sz="2000" dirty="0"/>
          </a:p>
        </p:txBody>
      </p:sp>
      <p:sp>
        <p:nvSpPr>
          <p:cNvPr id="22" name="Text 20"/>
          <p:cNvSpPr/>
          <p:nvPr/>
        </p:nvSpPr>
        <p:spPr>
          <a:xfrm>
            <a:off x="9738360" y="2194560"/>
            <a:ext cx="1828800" cy="41148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Finish</a:t>
            </a:r>
            <a:endParaRPr lang="en-US" sz="1700" dirty="0"/>
          </a:p>
        </p:txBody>
      </p:sp>
      <p:sp>
        <p:nvSpPr>
          <p:cNvPr id="23" name="Text 21"/>
          <p:cNvSpPr/>
          <p:nvPr/>
        </p:nvSpPr>
        <p:spPr>
          <a:xfrm>
            <a:off x="9738360" y="2834640"/>
            <a:ext cx="1828800" cy="12801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Interpretation +</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recommended action</a:t>
            </a:r>
            <a:endParaRPr lang="en-US" sz="1400" dirty="0"/>
          </a:p>
        </p:txBody>
      </p:sp>
      <p:sp>
        <p:nvSpPr>
          <p:cNvPr id="24" name="Text 22"/>
          <p:cNvSpPr/>
          <p:nvPr/>
        </p:nvSpPr>
        <p:spPr>
          <a:xfrm>
            <a:off x="548640" y="5029200"/>
            <a:ext cx="10972800" cy="320040"/>
          </a:xfrm>
          <a:prstGeom prst="rect">
            <a:avLst/>
          </a:prstGeom>
          <a:noFill/>
          <a:ln/>
        </p:spPr>
        <p:txBody>
          <a:bodyPr wrap="square" lIns="0" tIns="0" rIns="0" bIns="0" rtlCol="0" anchor="ctr"/>
          <a:lstStyle/>
          <a:p>
            <a:pPr indent="0" marL="0">
              <a:buNone/>
            </a:pPr>
            <a:r>
              <a:rPr lang="en-US" sz="1500" i="1" dirty="0">
                <a:solidFill>
                  <a:srgbClr val="64748B"/>
                </a:solidFill>
                <a:latin typeface="Arial" pitchFamily="34" charset="0"/>
                <a:ea typeface="Arial" pitchFamily="34" charset="-122"/>
                <a:cs typeface="Arial" pitchFamily="34" charset="-120"/>
              </a:rPr>
              <a:t>In my workflow, Stage 3 provides the greatest leverage for AI assistance.</a:t>
            </a:r>
            <a:endParaRPr lang="en-US" sz="1500" dirty="0"/>
          </a:p>
        </p:txBody>
      </p:sp>
      <p:sp>
        <p:nvSpPr>
          <p:cNvPr id="25" name="Text 23"/>
          <p:cNvSpPr/>
          <p:nvPr/>
        </p:nvSpPr>
        <p:spPr>
          <a:xfrm>
            <a:off x="548640" y="5577840"/>
            <a:ext cx="109728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 xml:space="preserve">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0972800" cy="36576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STAGES 1 &amp; 2 — GET THE DECISION</a:t>
            </a:r>
            <a:endParaRPr lang="en-US" sz="1300" dirty="0"/>
          </a:p>
        </p:txBody>
      </p:sp>
      <p:sp>
        <p:nvSpPr>
          <p:cNvPr id="3" name="Text 1"/>
          <p:cNvSpPr/>
          <p:nvPr/>
        </p:nvSpPr>
        <p:spPr>
          <a:xfrm>
            <a:off x="548640" y="777240"/>
            <a:ext cx="10972800" cy="411480"/>
          </a:xfrm>
          <a:prstGeom prst="rect">
            <a:avLst/>
          </a:prstGeom>
          <a:noFill/>
          <a:ln/>
        </p:spPr>
        <p:txBody>
          <a:bodyPr wrap="square" lIns="0" tIns="0" rIns="0" bIns="0" rtlCol="0" anchor="ctr"/>
          <a:lstStyle/>
          <a:p>
            <a:pPr indent="0" marL="0">
              <a:buNone/>
            </a:pPr>
            <a:r>
              <a:rPr lang="en-US" sz="2400" b="1" dirty="0">
                <a:solidFill>
                  <a:srgbClr val="0F172A"/>
                </a:solidFill>
                <a:latin typeface="Arial" pitchFamily="34" charset="0"/>
                <a:ea typeface="Arial" pitchFamily="34" charset="-122"/>
                <a:cs typeface="Arial" pitchFamily="34" charset="-120"/>
              </a:rPr>
              <a:t>Start by clarifying the real need</a:t>
            </a:r>
            <a:endParaRPr lang="en-US" sz="2400" dirty="0"/>
          </a:p>
        </p:txBody>
      </p:sp>
      <p:sp>
        <p:nvSpPr>
          <p:cNvPr id="4" name="Shape 2"/>
          <p:cNvSpPr/>
          <p:nvPr/>
        </p:nvSpPr>
        <p:spPr>
          <a:xfrm>
            <a:off x="548640" y="1371600"/>
            <a:ext cx="5394960" cy="4114800"/>
          </a:xfrm>
          <a:prstGeom prst="rect">
            <a:avLst/>
          </a:prstGeom>
          <a:solidFill>
            <a:srgbClr val="F1F5F9"/>
          </a:solidFill>
          <a:ln/>
        </p:spPr>
      </p:sp>
      <p:sp>
        <p:nvSpPr>
          <p:cNvPr id="5" name="Shape 3"/>
          <p:cNvSpPr/>
          <p:nvPr/>
        </p:nvSpPr>
        <p:spPr>
          <a:xfrm>
            <a:off x="548640" y="1371600"/>
            <a:ext cx="109728" cy="4114800"/>
          </a:xfrm>
          <a:prstGeom prst="rect">
            <a:avLst/>
          </a:prstGeom>
          <a:solidFill>
            <a:srgbClr val="B45309"/>
          </a:solidFill>
          <a:ln/>
        </p:spPr>
      </p:sp>
      <p:sp>
        <p:nvSpPr>
          <p:cNvPr id="6" name="Text 4"/>
          <p:cNvSpPr/>
          <p:nvPr/>
        </p:nvSpPr>
        <p:spPr>
          <a:xfrm>
            <a:off x="914400" y="1600200"/>
            <a:ext cx="4754880" cy="365760"/>
          </a:xfrm>
          <a:prstGeom prst="rect">
            <a:avLst/>
          </a:prstGeom>
          <a:noFill/>
          <a:ln/>
        </p:spPr>
        <p:txBody>
          <a:bodyPr wrap="square" lIns="0" tIns="0" rIns="0" bIns="0" rtlCol="0" anchor="ctr"/>
          <a:lstStyle/>
          <a:p>
            <a:pPr indent="0" marL="0">
              <a:buNone/>
            </a:pPr>
            <a:r>
              <a:rPr lang="en-US" sz="1600" b="1" dirty="0">
                <a:solidFill>
                  <a:srgbClr val="B45309"/>
                </a:solidFill>
                <a:latin typeface="Arial" pitchFamily="34" charset="0"/>
                <a:ea typeface="Arial" pitchFamily="34" charset="-122"/>
                <a:cs typeface="Arial" pitchFamily="34" charset="-120"/>
              </a:rPr>
              <a:t>01  START</a:t>
            </a:r>
            <a:endParaRPr lang="en-US" sz="1600" dirty="0"/>
          </a:p>
        </p:txBody>
      </p:sp>
      <p:sp>
        <p:nvSpPr>
          <p:cNvPr id="7" name="Text 5"/>
          <p:cNvSpPr/>
          <p:nvPr/>
        </p:nvSpPr>
        <p:spPr>
          <a:xfrm>
            <a:off x="914400" y="2148840"/>
            <a:ext cx="4754880" cy="64008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Do not treat the requested metric as the real need.</a:t>
            </a:r>
            <a:endParaRPr lang="en-US" sz="1600" dirty="0"/>
          </a:p>
        </p:txBody>
      </p:sp>
      <p:sp>
        <p:nvSpPr>
          <p:cNvPr id="8" name="Text 6"/>
          <p:cNvSpPr/>
          <p:nvPr/>
        </p:nvSpPr>
        <p:spPr>
          <a:xfrm>
            <a:off x="914400" y="3017520"/>
            <a:ext cx="4754880" cy="164592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Offer two or three concrete business decisions the metric could support, then invite the stakeholder to choose which one matters most.</a:t>
            </a:r>
            <a:endParaRPr lang="en-US" sz="1500" dirty="0"/>
          </a:p>
        </p:txBody>
      </p:sp>
      <p:sp>
        <p:nvSpPr>
          <p:cNvPr id="9" name="Shape 7"/>
          <p:cNvSpPr/>
          <p:nvPr/>
        </p:nvSpPr>
        <p:spPr>
          <a:xfrm>
            <a:off x="6217920" y="1371600"/>
            <a:ext cx="5394960" cy="4114800"/>
          </a:xfrm>
          <a:prstGeom prst="rect">
            <a:avLst/>
          </a:prstGeom>
          <a:solidFill>
            <a:srgbClr val="F1F5F9"/>
          </a:solidFill>
          <a:ln/>
        </p:spPr>
      </p:sp>
      <p:sp>
        <p:nvSpPr>
          <p:cNvPr id="10" name="Shape 8"/>
          <p:cNvSpPr/>
          <p:nvPr/>
        </p:nvSpPr>
        <p:spPr>
          <a:xfrm>
            <a:off x="6217920" y="1371600"/>
            <a:ext cx="109728" cy="4114800"/>
          </a:xfrm>
          <a:prstGeom prst="rect">
            <a:avLst/>
          </a:prstGeom>
          <a:solidFill>
            <a:srgbClr val="B45309"/>
          </a:solidFill>
          <a:ln/>
        </p:spPr>
      </p:sp>
      <p:sp>
        <p:nvSpPr>
          <p:cNvPr id="11" name="Text 9"/>
          <p:cNvSpPr/>
          <p:nvPr/>
        </p:nvSpPr>
        <p:spPr>
          <a:xfrm>
            <a:off x="6583680" y="1600200"/>
            <a:ext cx="4754880" cy="365760"/>
          </a:xfrm>
          <a:prstGeom prst="rect">
            <a:avLst/>
          </a:prstGeom>
          <a:noFill/>
          <a:ln/>
        </p:spPr>
        <p:txBody>
          <a:bodyPr wrap="square" lIns="0" tIns="0" rIns="0" bIns="0" rtlCol="0" anchor="ctr"/>
          <a:lstStyle/>
          <a:p>
            <a:pPr indent="0" marL="0">
              <a:buNone/>
            </a:pPr>
            <a:r>
              <a:rPr lang="en-US" sz="1600" b="1" dirty="0">
                <a:solidFill>
                  <a:srgbClr val="B45309"/>
                </a:solidFill>
                <a:latin typeface="Arial" pitchFamily="34" charset="0"/>
                <a:ea typeface="Arial" pitchFamily="34" charset="-122"/>
                <a:cs typeface="Arial" pitchFamily="34" charset="-120"/>
              </a:rPr>
              <a:t>02  FRAMING</a:t>
            </a:r>
            <a:endParaRPr lang="en-US" sz="1600" dirty="0"/>
          </a:p>
        </p:txBody>
      </p:sp>
      <p:sp>
        <p:nvSpPr>
          <p:cNvPr id="12" name="Text 10"/>
          <p:cNvSpPr/>
          <p:nvPr/>
        </p:nvSpPr>
        <p:spPr>
          <a:xfrm>
            <a:off x="6583680" y="2148840"/>
            <a:ext cx="4754880" cy="64008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Turn the response into one precise decision.</a:t>
            </a:r>
            <a:endParaRPr lang="en-US" sz="1600" dirty="0"/>
          </a:p>
        </p:txBody>
      </p:sp>
      <p:sp>
        <p:nvSpPr>
          <p:cNvPr id="13" name="Text 11"/>
          <p:cNvSpPr/>
          <p:nvPr/>
        </p:nvSpPr>
        <p:spPr>
          <a:xfrm>
            <a:off x="6583680" y="3017520"/>
            <a:ext cx="4754880" cy="164592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Ask one short clarifying question that identifies the action, priority, or resource choice they are trying to make.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10972800" cy="256032"/>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WHEN THE CONVERSATION GETS STUCK</a:t>
            </a:r>
            <a:endParaRPr lang="en-US" sz="1300" dirty="0"/>
          </a:p>
        </p:txBody>
      </p:sp>
      <p:sp>
        <p:nvSpPr>
          <p:cNvPr id="3" name="Text 1"/>
          <p:cNvSpPr/>
          <p:nvPr/>
        </p:nvSpPr>
        <p:spPr>
          <a:xfrm>
            <a:off x="457200" y="502920"/>
            <a:ext cx="109728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Gentle ways to keep moving toward a clear decision</a:t>
            </a:r>
            <a:endParaRPr lang="en-US" sz="2200" dirty="0"/>
          </a:p>
        </p:txBody>
      </p:sp>
      <p:sp>
        <p:nvSpPr>
          <p:cNvPr id="4" name="Shape 2"/>
          <p:cNvSpPr/>
          <p:nvPr/>
        </p:nvSpPr>
        <p:spPr>
          <a:xfrm>
            <a:off x="457200" y="1051560"/>
            <a:ext cx="11247120" cy="1554480"/>
          </a:xfrm>
          <a:prstGeom prst="rect">
            <a:avLst/>
          </a:prstGeom>
          <a:solidFill>
            <a:srgbClr val="F1F5F9"/>
          </a:solidFill>
          <a:ln/>
        </p:spPr>
      </p:sp>
      <p:sp>
        <p:nvSpPr>
          <p:cNvPr id="5" name="Shape 3"/>
          <p:cNvSpPr/>
          <p:nvPr/>
        </p:nvSpPr>
        <p:spPr>
          <a:xfrm>
            <a:off x="457200" y="1051560"/>
            <a:ext cx="109728" cy="1554480"/>
          </a:xfrm>
          <a:prstGeom prst="rect">
            <a:avLst/>
          </a:prstGeom>
          <a:solidFill>
            <a:srgbClr val="B45309"/>
          </a:solidFill>
          <a:ln/>
        </p:spPr>
      </p:sp>
      <p:sp>
        <p:nvSpPr>
          <p:cNvPr id="6" name="Text 4"/>
          <p:cNvSpPr/>
          <p:nvPr/>
        </p:nvSpPr>
        <p:spPr>
          <a:xfrm>
            <a:off x="777240" y="1188720"/>
            <a:ext cx="10698480"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When the answer stays vague</a:t>
            </a:r>
            <a:endParaRPr lang="en-US" sz="1500" dirty="0"/>
          </a:p>
        </p:txBody>
      </p:sp>
      <p:sp>
        <p:nvSpPr>
          <p:cNvPr id="7" name="Text 5"/>
          <p:cNvSpPr/>
          <p:nvPr/>
        </p:nvSpPr>
        <p:spPr>
          <a:xfrm>
            <a:off x="777240" y="1508760"/>
            <a:ext cx="10698480" cy="2743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Gently narrow the options</a:t>
            </a:r>
            <a:endParaRPr lang="en-US" sz="1400" dirty="0"/>
          </a:p>
        </p:txBody>
      </p:sp>
      <p:sp>
        <p:nvSpPr>
          <p:cNvPr id="8" name="Text 6"/>
          <p:cNvSpPr/>
          <p:nvPr/>
        </p:nvSpPr>
        <p:spPr>
          <a:xfrm>
            <a:off x="777240" y="1874520"/>
            <a:ext cx="1069848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“Would it help if we focused on whether to [A] or [B]? Or is there a different decision that would be more useful?”</a:t>
            </a:r>
            <a:endParaRPr lang="en-US" sz="1300" dirty="0"/>
          </a:p>
        </p:txBody>
      </p:sp>
      <p:sp>
        <p:nvSpPr>
          <p:cNvPr id="9" name="Shape 7"/>
          <p:cNvSpPr/>
          <p:nvPr/>
        </p:nvSpPr>
        <p:spPr>
          <a:xfrm>
            <a:off x="457200" y="2743200"/>
            <a:ext cx="11247120" cy="1554480"/>
          </a:xfrm>
          <a:prstGeom prst="rect">
            <a:avLst/>
          </a:prstGeom>
          <a:solidFill>
            <a:srgbClr val="F1F5F9"/>
          </a:solidFill>
          <a:ln/>
        </p:spPr>
      </p:sp>
      <p:sp>
        <p:nvSpPr>
          <p:cNvPr id="10" name="Shape 8"/>
          <p:cNvSpPr/>
          <p:nvPr/>
        </p:nvSpPr>
        <p:spPr>
          <a:xfrm>
            <a:off x="457200" y="2743200"/>
            <a:ext cx="109728" cy="1554480"/>
          </a:xfrm>
          <a:prstGeom prst="rect">
            <a:avLst/>
          </a:prstGeom>
          <a:solidFill>
            <a:srgbClr val="B45309"/>
          </a:solidFill>
          <a:ln/>
        </p:spPr>
      </p:sp>
      <p:sp>
        <p:nvSpPr>
          <p:cNvPr id="11" name="Text 9"/>
          <p:cNvSpPr/>
          <p:nvPr/>
        </p:nvSpPr>
        <p:spPr>
          <a:xfrm>
            <a:off x="777240" y="2880360"/>
            <a:ext cx="10698480"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When they prefer just to see the numbers</a:t>
            </a:r>
            <a:endParaRPr lang="en-US" sz="1500" dirty="0"/>
          </a:p>
        </p:txBody>
      </p:sp>
      <p:sp>
        <p:nvSpPr>
          <p:cNvPr id="12" name="Text 10"/>
          <p:cNvSpPr/>
          <p:nvPr/>
        </p:nvSpPr>
        <p:spPr>
          <a:xfrm>
            <a:off x="777240" y="3200400"/>
            <a:ext cx="10698480" cy="2743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Acknowledge the preference and offer a practical path</a:t>
            </a:r>
            <a:endParaRPr lang="en-US" sz="1400" dirty="0"/>
          </a:p>
        </p:txBody>
      </p:sp>
      <p:sp>
        <p:nvSpPr>
          <p:cNvPr id="13" name="Text 11"/>
          <p:cNvSpPr/>
          <p:nvPr/>
        </p:nvSpPr>
        <p:spPr>
          <a:xfrm>
            <a:off x="777240" y="3566160"/>
            <a:ext cx="1069848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“Happy to pull the numbers. To make sure they’re useful, would you like me to use [X] as a working decision for now, or pause until the priority is clearer?”</a:t>
            </a:r>
            <a:endParaRPr lang="en-US" sz="1300" dirty="0"/>
          </a:p>
        </p:txBody>
      </p:sp>
      <p:sp>
        <p:nvSpPr>
          <p:cNvPr id="14" name="Shape 12"/>
          <p:cNvSpPr/>
          <p:nvPr/>
        </p:nvSpPr>
        <p:spPr>
          <a:xfrm>
            <a:off x="457200" y="4434840"/>
            <a:ext cx="11247120" cy="1554480"/>
          </a:xfrm>
          <a:prstGeom prst="rect">
            <a:avLst/>
          </a:prstGeom>
          <a:solidFill>
            <a:srgbClr val="F1F5F9"/>
          </a:solidFill>
          <a:ln/>
        </p:spPr>
      </p:sp>
      <p:sp>
        <p:nvSpPr>
          <p:cNvPr id="15" name="Shape 13"/>
          <p:cNvSpPr/>
          <p:nvPr/>
        </p:nvSpPr>
        <p:spPr>
          <a:xfrm>
            <a:off x="457200" y="4434840"/>
            <a:ext cx="109728" cy="1554480"/>
          </a:xfrm>
          <a:prstGeom prst="rect">
            <a:avLst/>
          </a:prstGeom>
          <a:solidFill>
            <a:srgbClr val="B45309"/>
          </a:solidFill>
          <a:ln/>
        </p:spPr>
      </p:sp>
      <p:sp>
        <p:nvSpPr>
          <p:cNvPr id="16" name="Text 14"/>
          <p:cNvSpPr/>
          <p:nvPr/>
        </p:nvSpPr>
        <p:spPr>
          <a:xfrm>
            <a:off x="777240" y="4572000"/>
            <a:ext cx="10698480"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When multiple stakeholders are involved</a:t>
            </a:r>
            <a:endParaRPr lang="en-US" sz="1500" dirty="0"/>
          </a:p>
        </p:txBody>
      </p:sp>
      <p:sp>
        <p:nvSpPr>
          <p:cNvPr id="17" name="Text 15"/>
          <p:cNvSpPr/>
          <p:nvPr/>
        </p:nvSpPr>
        <p:spPr>
          <a:xfrm>
            <a:off x="777240" y="4892040"/>
            <a:ext cx="10698480" cy="2743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Clarify whose decision the analysis should support</a:t>
            </a:r>
            <a:endParaRPr lang="en-US" sz="1400" dirty="0"/>
          </a:p>
        </p:txBody>
      </p:sp>
      <p:sp>
        <p:nvSpPr>
          <p:cNvPr id="18" name="Text 16"/>
          <p:cNvSpPr/>
          <p:nvPr/>
        </p:nvSpPr>
        <p:spPr>
          <a:xfrm>
            <a:off x="777240" y="5257800"/>
            <a:ext cx="1069848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“There may be several perspectives here. For this piece of work, which decision would you like it to help with?”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2004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A SIMPLE GUARDRAIL</a:t>
            </a:r>
            <a:endParaRPr lang="en-US" sz="1300" dirty="0"/>
          </a:p>
        </p:txBody>
      </p:sp>
      <p:sp>
        <p:nvSpPr>
          <p:cNvPr id="3" name="Text 1"/>
          <p:cNvSpPr/>
          <p:nvPr/>
        </p:nvSpPr>
        <p:spPr>
          <a:xfrm>
            <a:off x="548640" y="822960"/>
            <a:ext cx="10972800" cy="50292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Decision or documented non-decision</a:t>
            </a:r>
            <a:endParaRPr lang="en-US" sz="2600" dirty="0"/>
          </a:p>
        </p:txBody>
      </p:sp>
      <p:sp>
        <p:nvSpPr>
          <p:cNvPr id="4" name="Shape 2"/>
          <p:cNvSpPr/>
          <p:nvPr/>
        </p:nvSpPr>
        <p:spPr>
          <a:xfrm>
            <a:off x="548640" y="1645920"/>
            <a:ext cx="11064240" cy="3840480"/>
          </a:xfrm>
          <a:prstGeom prst="rect">
            <a:avLst/>
          </a:prstGeom>
          <a:solidFill>
            <a:srgbClr val="F1F5F9"/>
          </a:solidFill>
          <a:ln/>
        </p:spPr>
      </p:sp>
      <p:sp>
        <p:nvSpPr>
          <p:cNvPr id="5" name="Text 3"/>
          <p:cNvSpPr/>
          <p:nvPr/>
        </p:nvSpPr>
        <p:spPr>
          <a:xfrm>
            <a:off x="914400" y="2011680"/>
            <a:ext cx="1033272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After a couple of clarifying attempts:</a:t>
            </a:r>
            <a:endParaRPr lang="en-US" sz="1800" dirty="0"/>
          </a:p>
        </p:txBody>
      </p:sp>
      <p:sp>
        <p:nvSpPr>
          <p:cNvPr id="6" name="Text 4"/>
          <p:cNvSpPr/>
          <p:nvPr/>
        </p:nvSpPr>
        <p:spPr>
          <a:xfrm>
            <a:off x="914400" y="2651760"/>
            <a:ext cx="10332720" cy="1188720"/>
          </a:xfrm>
          <a:prstGeom prst="rect">
            <a:avLst/>
          </a:prstGeom>
          <a:noFill/>
          <a:ln/>
        </p:spPr>
        <p:txBody>
          <a:bodyPr wrap="square" lIns="0" tIns="0" rIns="0" bIns="0" rtlCol="0" anchor="ctr"/>
          <a:lstStyle/>
          <a:p>
            <a:pPr indent="0" marL="0">
              <a:buNone/>
            </a:pPr>
            <a:r>
              <a:rPr lang="en-US" sz="1800" dirty="0">
                <a:solidFill>
                  <a:srgbClr val="1E293B"/>
                </a:solidFill>
                <a:latin typeface="Arial" pitchFamily="34" charset="0"/>
                <a:ea typeface="Arial" pitchFamily="34" charset="-122"/>
                <a:cs typeface="Arial" pitchFamily="34" charset="-120"/>
              </a:rPr>
              <a:t>• Proceed with an explicitly stated working decision, or</a:t>
            </a: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 Pause and note that a clear decision was not yet available.</a:t>
            </a:r>
            <a:endParaRPr lang="en-US" sz="1800" dirty="0"/>
          </a:p>
        </p:txBody>
      </p:sp>
      <p:sp>
        <p:nvSpPr>
          <p:cNvPr id="7" name="Text 5"/>
          <p:cNvSpPr/>
          <p:nvPr/>
        </p:nvSpPr>
        <p:spPr>
          <a:xfrm>
            <a:off x="914400" y="4206240"/>
            <a:ext cx="10332720" cy="822960"/>
          </a:xfrm>
          <a:prstGeom prst="rect">
            <a:avLst/>
          </a:prstGeom>
          <a:noFill/>
          <a:ln/>
        </p:spPr>
        <p:txBody>
          <a:bodyPr wrap="square" lIns="0" tIns="0" rIns="0" bIns="0" rtlCol="0" anchor="ctr"/>
          <a:lstStyle/>
          <a:p>
            <a:pPr indent="0" marL="0">
              <a:buNone/>
            </a:pPr>
            <a:r>
              <a:rPr lang="en-US" sz="1600" dirty="0">
                <a:solidFill>
                  <a:srgbClr val="64748B"/>
                </a:solidFill>
                <a:latin typeface="Arial" pitchFamily="34" charset="0"/>
                <a:ea typeface="Arial" pitchFamily="34" charset="-122"/>
                <a:cs typeface="Arial" pitchFamily="34" charset="-120"/>
              </a:rPr>
              <a:t>This keeps the work useful and avoids analysis that has no decision to support.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10972800" cy="27432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STAGE 3 — DESIGN THE TEST</a:t>
            </a:r>
            <a:endParaRPr lang="en-US" sz="1300" dirty="0"/>
          </a:p>
        </p:txBody>
      </p:sp>
      <p:sp>
        <p:nvSpPr>
          <p:cNvPr id="3" name="Text 1"/>
          <p:cNvSpPr/>
          <p:nvPr/>
        </p:nvSpPr>
        <p:spPr>
          <a:xfrm>
            <a:off x="548640" y="548640"/>
            <a:ext cx="10972800" cy="41148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Convert the decision into a testable hypothesis and measurement plan</a:t>
            </a:r>
            <a:endParaRPr lang="en-US" sz="2200" dirty="0"/>
          </a:p>
        </p:txBody>
      </p:sp>
      <p:sp>
        <p:nvSpPr>
          <p:cNvPr id="4" name="Shape 2"/>
          <p:cNvSpPr/>
          <p:nvPr/>
        </p:nvSpPr>
        <p:spPr>
          <a:xfrm>
            <a:off x="548640" y="1188720"/>
            <a:ext cx="3566160" cy="3657600"/>
          </a:xfrm>
          <a:prstGeom prst="rect">
            <a:avLst/>
          </a:prstGeom>
          <a:solidFill>
            <a:srgbClr val="F1F5F9"/>
          </a:solidFill>
          <a:ln/>
        </p:spPr>
      </p:sp>
      <p:sp>
        <p:nvSpPr>
          <p:cNvPr id="5" name="Shape 3"/>
          <p:cNvSpPr/>
          <p:nvPr/>
        </p:nvSpPr>
        <p:spPr>
          <a:xfrm>
            <a:off x="548640" y="1188720"/>
            <a:ext cx="3566160" cy="594360"/>
          </a:xfrm>
          <a:prstGeom prst="rect">
            <a:avLst/>
          </a:prstGeom>
          <a:solidFill>
            <a:srgbClr val="0F172A"/>
          </a:solidFill>
          <a:ln/>
        </p:spPr>
      </p:sp>
      <p:sp>
        <p:nvSpPr>
          <p:cNvPr id="6" name="Text 4"/>
          <p:cNvSpPr/>
          <p:nvPr/>
        </p:nvSpPr>
        <p:spPr>
          <a:xfrm>
            <a:off x="731520" y="1280160"/>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Hypothesis</a:t>
            </a:r>
            <a:endParaRPr lang="en-US" sz="1700" dirty="0"/>
          </a:p>
        </p:txBody>
      </p:sp>
      <p:sp>
        <p:nvSpPr>
          <p:cNvPr id="7" name="Text 5"/>
          <p:cNvSpPr/>
          <p:nvPr/>
        </p:nvSpPr>
        <p:spPr>
          <a:xfrm>
            <a:off x="777240" y="201168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One clear, testable claim</a:t>
            </a:r>
            <a:endParaRPr lang="en-US" sz="1500" dirty="0"/>
          </a:p>
        </p:txBody>
      </p:sp>
      <p:sp>
        <p:nvSpPr>
          <p:cNvPr id="8" name="Text 6"/>
          <p:cNvSpPr/>
          <p:nvPr/>
        </p:nvSpPr>
        <p:spPr>
          <a:xfrm>
            <a:off x="777240" y="265176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Tied directly to the decision</a:t>
            </a:r>
            <a:endParaRPr lang="en-US" sz="1500" dirty="0"/>
          </a:p>
        </p:txBody>
      </p:sp>
      <p:sp>
        <p:nvSpPr>
          <p:cNvPr id="9" name="Text 7"/>
          <p:cNvSpPr/>
          <p:nvPr/>
        </p:nvSpPr>
        <p:spPr>
          <a:xfrm>
            <a:off x="777240" y="329184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Can be tested and potentially falsified</a:t>
            </a:r>
            <a:endParaRPr lang="en-US" sz="1500" dirty="0"/>
          </a:p>
        </p:txBody>
      </p:sp>
      <p:sp>
        <p:nvSpPr>
          <p:cNvPr id="10" name="Shape 8"/>
          <p:cNvSpPr/>
          <p:nvPr/>
        </p:nvSpPr>
        <p:spPr>
          <a:xfrm>
            <a:off x="4343400" y="1188720"/>
            <a:ext cx="3566160" cy="3657600"/>
          </a:xfrm>
          <a:prstGeom prst="rect">
            <a:avLst/>
          </a:prstGeom>
          <a:solidFill>
            <a:srgbClr val="F1F5F9"/>
          </a:solidFill>
          <a:ln/>
        </p:spPr>
      </p:sp>
      <p:sp>
        <p:nvSpPr>
          <p:cNvPr id="11" name="Shape 9"/>
          <p:cNvSpPr/>
          <p:nvPr/>
        </p:nvSpPr>
        <p:spPr>
          <a:xfrm>
            <a:off x="4343400" y="1188720"/>
            <a:ext cx="3566160" cy="594360"/>
          </a:xfrm>
          <a:prstGeom prst="rect">
            <a:avLst/>
          </a:prstGeom>
          <a:solidFill>
            <a:srgbClr val="0F172A"/>
          </a:solidFill>
          <a:ln/>
        </p:spPr>
      </p:sp>
      <p:sp>
        <p:nvSpPr>
          <p:cNvPr id="12" name="Text 10"/>
          <p:cNvSpPr/>
          <p:nvPr/>
        </p:nvSpPr>
        <p:spPr>
          <a:xfrm>
            <a:off x="4526280" y="1280160"/>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Primary KPI</a:t>
            </a:r>
            <a:endParaRPr lang="en-US" sz="1700" dirty="0"/>
          </a:p>
        </p:txBody>
      </p:sp>
      <p:sp>
        <p:nvSpPr>
          <p:cNvPr id="13" name="Text 11"/>
          <p:cNvSpPr/>
          <p:nvPr/>
        </p:nvSpPr>
        <p:spPr>
          <a:xfrm>
            <a:off x="4572000" y="201168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Exact numerator &amp; denominator</a:t>
            </a:r>
            <a:endParaRPr lang="en-US" sz="1500" dirty="0"/>
          </a:p>
        </p:txBody>
      </p:sp>
      <p:sp>
        <p:nvSpPr>
          <p:cNvPr id="14" name="Text 12"/>
          <p:cNvSpPr/>
          <p:nvPr/>
        </p:nvSpPr>
        <p:spPr>
          <a:xfrm>
            <a:off x="4572000" y="265176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Population &amp; time window</a:t>
            </a:r>
            <a:endParaRPr lang="en-US" sz="1500" dirty="0"/>
          </a:p>
        </p:txBody>
      </p:sp>
      <p:sp>
        <p:nvSpPr>
          <p:cNvPr id="15" name="Text 13"/>
          <p:cNvSpPr/>
          <p:nvPr/>
        </p:nvSpPr>
        <p:spPr>
          <a:xfrm>
            <a:off x="4572000" y="329184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Unit of analysis / grain</a:t>
            </a:r>
            <a:endParaRPr lang="en-US" sz="1500" dirty="0"/>
          </a:p>
        </p:txBody>
      </p:sp>
      <p:sp>
        <p:nvSpPr>
          <p:cNvPr id="16" name="Shape 14"/>
          <p:cNvSpPr/>
          <p:nvPr/>
        </p:nvSpPr>
        <p:spPr>
          <a:xfrm>
            <a:off x="8138160" y="1188720"/>
            <a:ext cx="3566160" cy="3657600"/>
          </a:xfrm>
          <a:prstGeom prst="rect">
            <a:avLst/>
          </a:prstGeom>
          <a:solidFill>
            <a:srgbClr val="F1F5F9"/>
          </a:solidFill>
          <a:ln/>
        </p:spPr>
      </p:sp>
      <p:sp>
        <p:nvSpPr>
          <p:cNvPr id="17" name="Shape 15"/>
          <p:cNvSpPr/>
          <p:nvPr/>
        </p:nvSpPr>
        <p:spPr>
          <a:xfrm>
            <a:off x="8138160" y="1188720"/>
            <a:ext cx="3566160" cy="594360"/>
          </a:xfrm>
          <a:prstGeom prst="rect">
            <a:avLst/>
          </a:prstGeom>
          <a:solidFill>
            <a:srgbClr val="0F172A"/>
          </a:solidFill>
          <a:ln/>
        </p:spPr>
      </p:sp>
      <p:sp>
        <p:nvSpPr>
          <p:cNvPr id="18" name="Text 16"/>
          <p:cNvSpPr/>
          <p:nvPr/>
        </p:nvSpPr>
        <p:spPr>
          <a:xfrm>
            <a:off x="8321040" y="1280160"/>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Controls</a:t>
            </a:r>
            <a:endParaRPr lang="en-US" sz="1700" dirty="0"/>
          </a:p>
        </p:txBody>
      </p:sp>
      <p:sp>
        <p:nvSpPr>
          <p:cNvPr id="19" name="Text 17"/>
          <p:cNvSpPr/>
          <p:nvPr/>
        </p:nvSpPr>
        <p:spPr>
          <a:xfrm>
            <a:off x="8366760" y="201168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Key segments</a:t>
            </a:r>
            <a:endParaRPr lang="en-US" sz="1500" dirty="0"/>
          </a:p>
        </p:txBody>
      </p:sp>
      <p:sp>
        <p:nvSpPr>
          <p:cNvPr id="20" name="Text 18"/>
          <p:cNvSpPr/>
          <p:nvPr/>
        </p:nvSpPr>
        <p:spPr>
          <a:xfrm>
            <a:off x="8366760" y="265176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Major confounders</a:t>
            </a:r>
            <a:endParaRPr lang="en-US" sz="1500" dirty="0"/>
          </a:p>
        </p:txBody>
      </p:sp>
      <p:sp>
        <p:nvSpPr>
          <p:cNvPr id="21" name="Text 19"/>
          <p:cNvSpPr/>
          <p:nvPr/>
        </p:nvSpPr>
        <p:spPr>
          <a:xfrm>
            <a:off x="8366760" y="3291840"/>
            <a:ext cx="3108960" cy="5029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What must be ruled out</a:t>
            </a:r>
            <a:endParaRPr lang="en-US" sz="1500" dirty="0"/>
          </a:p>
        </p:txBody>
      </p:sp>
      <p:sp>
        <p:nvSpPr>
          <p:cNvPr id="22" name="Text 20"/>
          <p:cNvSpPr/>
          <p:nvPr/>
        </p:nvSpPr>
        <p:spPr>
          <a:xfrm>
            <a:off x="548640" y="5120640"/>
            <a:ext cx="109728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 xml:space="preserve">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STAGE 4 — EXECUTION</a:t>
            </a:r>
            <a:endParaRPr lang="en-US" sz="1300" dirty="0"/>
          </a:p>
        </p:txBody>
      </p:sp>
      <p:sp>
        <p:nvSpPr>
          <p:cNvPr id="3" name="Text 1"/>
          <p:cNvSpPr/>
          <p:nvPr/>
        </p:nvSpPr>
        <p:spPr>
          <a:xfrm>
            <a:off x="548640" y="685800"/>
            <a:ext cx="10972800" cy="457200"/>
          </a:xfrm>
          <a:prstGeom prst="rect">
            <a:avLst/>
          </a:prstGeom>
          <a:noFill/>
          <a:ln/>
        </p:spPr>
        <p:txBody>
          <a:bodyPr wrap="square" lIns="0" tIns="0" rIns="0" bIns="0" rtlCol="0" anchor="ctr"/>
          <a:lstStyle/>
          <a:p>
            <a:pPr indent="0" marL="0">
              <a:buNone/>
            </a:pPr>
            <a:r>
              <a:rPr lang="en-US" sz="2400" b="1" dirty="0">
                <a:solidFill>
                  <a:srgbClr val="0F172A"/>
                </a:solidFill>
                <a:latin typeface="Arial" pitchFamily="34" charset="0"/>
                <a:ea typeface="Arial" pitchFamily="34" charset="-122"/>
                <a:cs typeface="Arial" pitchFamily="34" charset="-120"/>
              </a:rPr>
              <a:t>Produce evidence with modular R code and AI-assisted quality control</a:t>
            </a:r>
            <a:endParaRPr lang="en-US" sz="2400" dirty="0"/>
          </a:p>
        </p:txBody>
      </p:sp>
      <p:sp>
        <p:nvSpPr>
          <p:cNvPr id="4" name="Shape 2"/>
          <p:cNvSpPr/>
          <p:nvPr/>
        </p:nvSpPr>
        <p:spPr>
          <a:xfrm>
            <a:off x="548640" y="1417320"/>
            <a:ext cx="5394960" cy="4114800"/>
          </a:xfrm>
          <a:prstGeom prst="rect">
            <a:avLst/>
          </a:prstGeom>
          <a:solidFill>
            <a:srgbClr val="F1F5F9"/>
          </a:solidFill>
          <a:ln/>
        </p:spPr>
      </p:sp>
      <p:sp>
        <p:nvSpPr>
          <p:cNvPr id="5" name="Text 3"/>
          <p:cNvSpPr/>
          <p:nvPr/>
        </p:nvSpPr>
        <p:spPr>
          <a:xfrm>
            <a:off x="822960" y="1691640"/>
            <a:ext cx="4846320" cy="365760"/>
          </a:xfrm>
          <a:prstGeom prst="rect">
            <a:avLst/>
          </a:prstGeom>
          <a:noFill/>
          <a:ln/>
        </p:spPr>
        <p:txBody>
          <a:bodyPr wrap="square" lIns="0" tIns="0" rIns="0" bIns="0" rtlCol="0" anchor="ctr"/>
          <a:lstStyle/>
          <a:p>
            <a:pPr indent="0" marL="0">
              <a:buNone/>
            </a:pPr>
            <a:r>
              <a:rPr lang="en-US" sz="1500" b="1" dirty="0">
                <a:solidFill>
                  <a:srgbClr val="B45309"/>
                </a:solidFill>
                <a:latin typeface="Arial" pitchFamily="34" charset="0"/>
                <a:ea typeface="Arial" pitchFamily="34" charset="-122"/>
                <a:cs typeface="Arial" pitchFamily="34" charset="-120"/>
              </a:rPr>
              <a:t>TECHNICAL CORE</a:t>
            </a:r>
            <a:endParaRPr lang="en-US" sz="1500" dirty="0"/>
          </a:p>
        </p:txBody>
      </p:sp>
      <p:sp>
        <p:nvSpPr>
          <p:cNvPr id="6" name="Text 4"/>
          <p:cNvSpPr/>
          <p:nvPr/>
        </p:nvSpPr>
        <p:spPr>
          <a:xfrm>
            <a:off x="822960" y="2286000"/>
            <a:ext cx="4846320" cy="2560320"/>
          </a:xfrm>
          <a:prstGeom prst="rect">
            <a:avLst/>
          </a:prstGeom>
          <a:noFill/>
          <a:ln/>
        </p:spPr>
        <p:txBody>
          <a:bodyPr wrap="square" lIns="0" tIns="0" rIns="0" bIns="0" rtlCol="0" anchor="ctr"/>
          <a:lstStyle/>
          <a:p>
            <a:pPr indent="0" marL="0">
              <a:buNone/>
            </a:pPr>
            <a:r>
              <a:rPr lang="en-US" sz="1700" dirty="0">
                <a:solidFill>
                  <a:srgbClr val="1E293B"/>
                </a:solidFill>
                <a:latin typeface="Arial" pitchFamily="34" charset="0"/>
                <a:ea typeface="Arial" pitchFamily="34" charset="-122"/>
                <a:cs typeface="Arial" pitchFamily="34" charset="-120"/>
              </a:rPr>
              <a:t>SQL extraction and joins</a:t>
            </a: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R / Tidyverse processing</a:t>
            </a: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Interpretable modeling</a:t>
            </a: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Tables, charts, Excel reports, and dashboards</a:t>
            </a:r>
            <a:endParaRPr lang="en-US" sz="1700" dirty="0"/>
          </a:p>
        </p:txBody>
      </p:sp>
      <p:sp>
        <p:nvSpPr>
          <p:cNvPr id="7" name="Shape 5"/>
          <p:cNvSpPr/>
          <p:nvPr/>
        </p:nvSpPr>
        <p:spPr>
          <a:xfrm>
            <a:off x="6217920" y="1417320"/>
            <a:ext cx="5394960" cy="4114800"/>
          </a:xfrm>
          <a:prstGeom prst="rect">
            <a:avLst/>
          </a:prstGeom>
          <a:solidFill>
            <a:srgbClr val="0F172A"/>
          </a:solidFill>
          <a:ln/>
        </p:spPr>
      </p:sp>
      <p:sp>
        <p:nvSpPr>
          <p:cNvPr id="8" name="Text 6"/>
          <p:cNvSpPr/>
          <p:nvPr/>
        </p:nvSpPr>
        <p:spPr>
          <a:xfrm>
            <a:off x="6492240" y="1691640"/>
            <a:ext cx="4846320" cy="365760"/>
          </a:xfrm>
          <a:prstGeom prst="rect">
            <a:avLst/>
          </a:prstGeom>
          <a:noFill/>
          <a:ln/>
        </p:spPr>
        <p:txBody>
          <a:bodyPr wrap="square" lIns="0" tIns="0" rIns="0" bIns="0" rtlCol="0" anchor="ctr"/>
          <a:lstStyle/>
          <a:p>
            <a:pPr indent="0" marL="0">
              <a:buNone/>
            </a:pPr>
            <a:r>
              <a:rPr lang="en-US" sz="1500" b="1" dirty="0">
                <a:solidFill>
                  <a:srgbClr val="F59E0B"/>
                </a:solidFill>
                <a:latin typeface="Arial" pitchFamily="34" charset="0"/>
                <a:ea typeface="Arial" pitchFamily="34" charset="-122"/>
                <a:cs typeface="Arial" pitchFamily="34" charset="-120"/>
              </a:rPr>
              <a:t>AI-ASSISTED CONTROL LAYER</a:t>
            </a:r>
            <a:endParaRPr lang="en-US" sz="1500" dirty="0"/>
          </a:p>
        </p:txBody>
      </p:sp>
      <p:sp>
        <p:nvSpPr>
          <p:cNvPr id="9" name="Text 7"/>
          <p:cNvSpPr/>
          <p:nvPr/>
        </p:nvSpPr>
        <p:spPr>
          <a:xfrm>
            <a:off x="6492240" y="2286000"/>
            <a:ext cx="4846320" cy="25603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Review grain and denominators</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Check joins and data quality</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Challenge assumptions</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Validate against the design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27432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STAGE 5 — FINISH</a:t>
            </a:r>
            <a:endParaRPr lang="en-US" sz="1300" dirty="0"/>
          </a:p>
        </p:txBody>
      </p:sp>
      <p:sp>
        <p:nvSpPr>
          <p:cNvPr id="3" name="Text 1"/>
          <p:cNvSpPr/>
          <p:nvPr/>
        </p:nvSpPr>
        <p:spPr>
          <a:xfrm>
            <a:off x="548640" y="640080"/>
            <a:ext cx="10972800" cy="411480"/>
          </a:xfrm>
          <a:prstGeom prst="rect">
            <a:avLst/>
          </a:prstGeom>
          <a:noFill/>
          <a:ln/>
        </p:spPr>
        <p:txBody>
          <a:bodyPr wrap="square" lIns="0" tIns="0" rIns="0" bIns="0" rtlCol="0" anchor="ctr"/>
          <a:lstStyle/>
          <a:p>
            <a:pPr indent="0" marL="0">
              <a:buNone/>
            </a:pPr>
            <a:r>
              <a:rPr lang="en-US" sz="2400" b="1" dirty="0">
                <a:solidFill>
                  <a:srgbClr val="0F172A"/>
                </a:solidFill>
                <a:latin typeface="Arial" pitchFamily="34" charset="0"/>
                <a:ea typeface="Arial" pitchFamily="34" charset="-122"/>
                <a:cs typeface="Arial" pitchFamily="34" charset="-120"/>
              </a:rPr>
              <a:t>Connect evidence to a proportionate action</a:t>
            </a:r>
            <a:endParaRPr lang="en-US" sz="2400" dirty="0"/>
          </a:p>
        </p:txBody>
      </p:sp>
      <p:sp>
        <p:nvSpPr>
          <p:cNvPr id="4" name="Shape 2"/>
          <p:cNvSpPr/>
          <p:nvPr/>
        </p:nvSpPr>
        <p:spPr>
          <a:xfrm>
            <a:off x="548640" y="1280160"/>
            <a:ext cx="5394960" cy="3657600"/>
          </a:xfrm>
          <a:prstGeom prst="rect">
            <a:avLst/>
          </a:prstGeom>
          <a:solidFill>
            <a:srgbClr val="F1F5F9"/>
          </a:solidFill>
          <a:ln/>
        </p:spPr>
      </p:sp>
      <p:sp>
        <p:nvSpPr>
          <p:cNvPr id="5" name="Text 3"/>
          <p:cNvSpPr/>
          <p:nvPr/>
        </p:nvSpPr>
        <p:spPr>
          <a:xfrm>
            <a:off x="822960" y="1554480"/>
            <a:ext cx="4846320" cy="320040"/>
          </a:xfrm>
          <a:prstGeom prst="rect">
            <a:avLst/>
          </a:prstGeom>
          <a:noFill/>
          <a:ln/>
        </p:spPr>
        <p:txBody>
          <a:bodyPr wrap="square" lIns="0" tIns="0" rIns="0" bIns="0" rtlCol="0" anchor="ctr"/>
          <a:lstStyle/>
          <a:p>
            <a:pPr indent="0" marL="0">
              <a:buNone/>
            </a:pPr>
            <a:r>
              <a:rPr lang="en-US" sz="1500" b="1" dirty="0">
                <a:solidFill>
                  <a:srgbClr val="B45309"/>
                </a:solidFill>
                <a:latin typeface="Arial" pitchFamily="34" charset="0"/>
                <a:ea typeface="Arial" pitchFamily="34" charset="-122"/>
                <a:cs typeface="Arial" pitchFamily="34" charset="-120"/>
              </a:rPr>
              <a:t>EVIDENCE DISCIPLINE</a:t>
            </a:r>
            <a:endParaRPr lang="en-US" sz="1500" dirty="0"/>
          </a:p>
        </p:txBody>
      </p:sp>
      <p:sp>
        <p:nvSpPr>
          <p:cNvPr id="6" name="Text 4"/>
          <p:cNvSpPr/>
          <p:nvPr/>
        </p:nvSpPr>
        <p:spPr>
          <a:xfrm>
            <a:off x="822960" y="2103120"/>
            <a:ext cx="4846320" cy="22860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State what the results support</a:t>
            </a:r>
            <a:endParaRPr lang="en-US" sz="1600" dirty="0"/>
          </a:p>
          <a:p>
            <a:pPr indent="0" marL="0">
              <a:buNone/>
            </a:pPr>
            <a:r>
              <a:rPr lang="en-US" sz="1600" dirty="0">
                <a:solidFill>
                  <a:srgbClr val="1E293B"/>
                </a:solidFill>
                <a:latin typeface="Arial" pitchFamily="34" charset="0"/>
                <a:ea typeface="Arial" pitchFamily="34" charset="-122"/>
                <a:cs typeface="Arial" pitchFamily="34" charset="-120"/>
              </a:rPr>
              <a:t>State what they do not support</a:t>
            </a:r>
            <a:endParaRPr lang="en-US" sz="1600" dirty="0"/>
          </a:p>
          <a:p>
            <a:pPr indent="0" marL="0">
              <a:buNone/>
            </a:pPr>
            <a:r>
              <a:rPr lang="en-US" sz="1600" dirty="0">
                <a:solidFill>
                  <a:srgbClr val="1E293B"/>
                </a:solidFill>
                <a:latin typeface="Arial" pitchFamily="34" charset="0"/>
                <a:ea typeface="Arial" pitchFamily="34" charset="-122"/>
                <a:cs typeface="Arial" pitchFamily="34" charset="-120"/>
              </a:rPr>
              <a:t>Separate association from causation</a:t>
            </a:r>
            <a:endParaRPr lang="en-US" sz="1600" dirty="0"/>
          </a:p>
          <a:p>
            <a:pPr indent="0" marL="0">
              <a:buNone/>
            </a:pPr>
            <a:r>
              <a:rPr lang="en-US" sz="1600" dirty="0">
                <a:solidFill>
                  <a:srgbClr val="1E293B"/>
                </a:solidFill>
                <a:latin typeface="Arial" pitchFamily="34" charset="0"/>
                <a:ea typeface="Arial" pitchFamily="34" charset="-122"/>
                <a:cs typeface="Arial" pitchFamily="34" charset="-120"/>
              </a:rPr>
              <a:t>Surface remaining uncertainty</a:t>
            </a:r>
            <a:endParaRPr lang="en-US" sz="1600" dirty="0"/>
          </a:p>
        </p:txBody>
      </p:sp>
      <p:sp>
        <p:nvSpPr>
          <p:cNvPr id="7" name="Shape 5"/>
          <p:cNvSpPr/>
          <p:nvPr/>
        </p:nvSpPr>
        <p:spPr>
          <a:xfrm>
            <a:off x="6217920" y="1280160"/>
            <a:ext cx="5394960" cy="3657600"/>
          </a:xfrm>
          <a:prstGeom prst="rect">
            <a:avLst/>
          </a:prstGeom>
          <a:solidFill>
            <a:srgbClr val="0F172A"/>
          </a:solidFill>
          <a:ln/>
        </p:spPr>
      </p:sp>
      <p:sp>
        <p:nvSpPr>
          <p:cNvPr id="8" name="Text 6"/>
          <p:cNvSpPr/>
          <p:nvPr/>
        </p:nvSpPr>
        <p:spPr>
          <a:xfrm>
            <a:off x="6492240" y="1554480"/>
            <a:ext cx="4846320" cy="320040"/>
          </a:xfrm>
          <a:prstGeom prst="rect">
            <a:avLst/>
          </a:prstGeom>
          <a:noFill/>
          <a:ln/>
        </p:spPr>
        <p:txBody>
          <a:bodyPr wrap="square" lIns="0" tIns="0" rIns="0" bIns="0" rtlCol="0" anchor="ctr"/>
          <a:lstStyle/>
          <a:p>
            <a:pPr indent="0" marL="0">
              <a:buNone/>
            </a:pPr>
            <a:r>
              <a:rPr lang="en-US" sz="1500" b="1" dirty="0">
                <a:solidFill>
                  <a:srgbClr val="F59E0B"/>
                </a:solidFill>
                <a:latin typeface="Arial" pitchFamily="34" charset="0"/>
                <a:ea typeface="Arial" pitchFamily="34" charset="-122"/>
                <a:cs typeface="Arial" pitchFamily="34" charset="-120"/>
              </a:rPr>
              <a:t>DECISION OUTPUT</a:t>
            </a:r>
            <a:endParaRPr lang="en-US" sz="1500" dirty="0"/>
          </a:p>
        </p:txBody>
      </p:sp>
      <p:sp>
        <p:nvSpPr>
          <p:cNvPr id="9" name="Text 7"/>
          <p:cNvSpPr/>
          <p:nvPr/>
        </p:nvSpPr>
        <p:spPr>
          <a:xfrm>
            <a:off x="6492240" y="2103120"/>
            <a:ext cx="4846320" cy="22860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Recommend the next action</a:t>
            </a:r>
            <a:endParaRPr lang="en-US" sz="1600" dirty="0"/>
          </a:p>
          <a:p>
            <a:pPr indent="0" marL="0">
              <a:buNone/>
            </a:pPr>
            <a:r>
              <a:rPr lang="en-US" sz="1600" dirty="0">
                <a:solidFill>
                  <a:srgbClr val="FFFFFF"/>
                </a:solidFill>
                <a:latin typeface="Arial" pitchFamily="34" charset="0"/>
                <a:ea typeface="Arial" pitchFamily="34" charset="-122"/>
                <a:cs typeface="Arial" pitchFamily="34" charset="-120"/>
              </a:rPr>
              <a:t>Match confidence to evidence</a:t>
            </a:r>
            <a:endParaRPr lang="en-US" sz="1600" dirty="0"/>
          </a:p>
          <a:p>
            <a:pPr indent="0" marL="0">
              <a:buNone/>
            </a:pPr>
            <a:r>
              <a:rPr lang="en-US" sz="1600" dirty="0">
                <a:solidFill>
                  <a:srgbClr val="FFFFFF"/>
                </a:solidFill>
                <a:latin typeface="Arial" pitchFamily="34" charset="0"/>
                <a:ea typeface="Arial" pitchFamily="34" charset="-122"/>
                <a:cs typeface="Arial" pitchFamily="34" charset="-120"/>
              </a:rPr>
              <a:t>Identify what to monitor</a:t>
            </a:r>
            <a:endParaRPr lang="en-US" sz="1600" dirty="0"/>
          </a:p>
          <a:p>
            <a:pPr indent="0" marL="0">
              <a:buNone/>
            </a:pPr>
            <a:r>
              <a:rPr lang="en-US" sz="1600" dirty="0">
                <a:solidFill>
                  <a:srgbClr val="FFFFFF"/>
                </a:solidFill>
                <a:latin typeface="Arial" pitchFamily="34" charset="0"/>
                <a:ea typeface="Arial" pitchFamily="34" charset="-122"/>
                <a:cs typeface="Arial" pitchFamily="34" charset="-120"/>
              </a:rPr>
              <a:t>Define the next question</a:t>
            </a:r>
            <a:endParaRPr lang="en-US" sz="1600" dirty="0"/>
          </a:p>
        </p:txBody>
      </p:sp>
      <p:sp>
        <p:nvSpPr>
          <p:cNvPr id="10" name="Text 8"/>
          <p:cNvSpPr/>
          <p:nvPr/>
        </p:nvSpPr>
        <p:spPr>
          <a:xfrm>
            <a:off x="548640" y="5212080"/>
            <a:ext cx="109728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 xml:space="preserve"> </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0972800" cy="256032"/>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PROMPT SUMMARY — ONE PAGE</a:t>
            </a:r>
            <a:endParaRPr lang="en-US" sz="1300" dirty="0"/>
          </a:p>
        </p:txBody>
      </p:sp>
      <p:sp>
        <p:nvSpPr>
          <p:cNvPr id="3" name="Text 1"/>
          <p:cNvSpPr/>
          <p:nvPr/>
        </p:nvSpPr>
        <p:spPr>
          <a:xfrm>
            <a:off x="457200" y="457200"/>
            <a:ext cx="10972800" cy="320040"/>
          </a:xfrm>
          <a:prstGeom prst="rect">
            <a:avLst/>
          </a:prstGeom>
          <a:noFill/>
          <a:ln/>
        </p:spPr>
        <p:txBody>
          <a:bodyPr wrap="square" lIns="0" tIns="0" rIns="0" bIns="0" rtlCol="0" anchor="ctr"/>
          <a:lstStyle/>
          <a:p>
            <a:pPr indent="0" marL="0">
              <a:buNone/>
            </a:pPr>
            <a:r>
              <a:rPr lang="en-US" sz="2000" b="1" dirty="0">
                <a:solidFill>
                  <a:srgbClr val="0F172A"/>
                </a:solidFill>
                <a:latin typeface="Arial" pitchFamily="34" charset="0"/>
                <a:ea typeface="Arial" pitchFamily="34" charset="-122"/>
                <a:cs typeface="Arial" pitchFamily="34" charset="-120"/>
              </a:rPr>
              <a:t>Prompts for Stages 1–3  |  Stage 4 = modular R + code review</a:t>
            </a:r>
            <a:endParaRPr lang="en-US" sz="2000" dirty="0"/>
          </a:p>
        </p:txBody>
      </p:sp>
      <p:sp>
        <p:nvSpPr>
          <p:cNvPr id="4" name="Shape 2"/>
          <p:cNvSpPr/>
          <p:nvPr/>
        </p:nvSpPr>
        <p:spPr>
          <a:xfrm>
            <a:off x="365760" y="914400"/>
            <a:ext cx="5623560" cy="2331720"/>
          </a:xfrm>
          <a:prstGeom prst="rect">
            <a:avLst/>
          </a:prstGeom>
          <a:solidFill>
            <a:srgbClr val="F1F5F9"/>
          </a:solidFill>
          <a:ln/>
        </p:spPr>
      </p:sp>
      <p:sp>
        <p:nvSpPr>
          <p:cNvPr id="5" name="Text 3"/>
          <p:cNvSpPr/>
          <p:nvPr/>
        </p:nvSpPr>
        <p:spPr>
          <a:xfrm>
            <a:off x="502920" y="1005840"/>
            <a:ext cx="5303520" cy="256032"/>
          </a:xfrm>
          <a:prstGeom prst="rect">
            <a:avLst/>
          </a:prstGeom>
          <a:noFill/>
          <a:ln/>
        </p:spPr>
        <p:txBody>
          <a:bodyPr wrap="square" lIns="0" tIns="0" rIns="0" bIns="0" rtlCol="0" anchor="ctr"/>
          <a:lstStyle/>
          <a:p>
            <a:pPr indent="0" marL="0">
              <a:buNone/>
            </a:pPr>
            <a:r>
              <a:rPr lang="en-US" sz="1200" b="1" dirty="0">
                <a:solidFill>
                  <a:srgbClr val="B45309"/>
                </a:solidFill>
                <a:latin typeface="Arial" pitchFamily="34" charset="0"/>
                <a:ea typeface="Arial" pitchFamily="34" charset="-122"/>
                <a:cs typeface="Arial" pitchFamily="34" charset="-120"/>
              </a:rPr>
              <a:t>STAGE 1 — START</a:t>
            </a:r>
            <a:endParaRPr lang="en-US" sz="1200" dirty="0"/>
          </a:p>
        </p:txBody>
      </p:sp>
      <p:sp>
        <p:nvSpPr>
          <p:cNvPr id="6" name="Text 4"/>
          <p:cNvSpPr/>
          <p:nvPr/>
        </p:nvSpPr>
        <p:spPr>
          <a:xfrm>
            <a:off x="502920" y="1325880"/>
            <a:ext cx="5349240" cy="1783080"/>
          </a:xfrm>
          <a:prstGeom prst="rect">
            <a:avLst/>
          </a:prstGeom>
          <a:noFill/>
          <a:ln/>
        </p:spPr>
        <p:txBody>
          <a:bodyPr wrap="square" lIns="0" tIns="0" rIns="0" bIns="0" rtlCol="0" anchor="ctr"/>
          <a:lstStyle/>
          <a:p>
            <a:pPr indent="0" marL="0">
              <a:buNone/>
            </a:pPr>
            <a:r>
              <a:rPr lang="en-US" sz="1200" dirty="0">
                <a:solidFill>
                  <a:srgbClr val="1E293B"/>
                </a:solidFill>
                <a:latin typeface="Arial" pitchFamily="34" charset="0"/>
                <a:ea typeface="Arial" pitchFamily="34" charset="-122"/>
                <a:cs typeface="Arial" pitchFamily="34" charset="-120"/>
              </a:rPr>
              <a:t>Stakeholder sent this request: “[paste]”</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Write a short professional reply that:</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 Acknowledges the requested metric</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 Offers 2–3 concrete business decisions</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 Ends by asking which decision they are trying to make</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Return only the message.</a:t>
            </a:r>
            <a:endParaRPr lang="en-US" sz="1200" dirty="0"/>
          </a:p>
        </p:txBody>
      </p:sp>
      <p:sp>
        <p:nvSpPr>
          <p:cNvPr id="7" name="Shape 5"/>
          <p:cNvSpPr/>
          <p:nvPr/>
        </p:nvSpPr>
        <p:spPr>
          <a:xfrm>
            <a:off x="6172200" y="914400"/>
            <a:ext cx="5623560" cy="2331720"/>
          </a:xfrm>
          <a:prstGeom prst="rect">
            <a:avLst/>
          </a:prstGeom>
          <a:solidFill>
            <a:srgbClr val="F1F5F9"/>
          </a:solidFill>
          <a:ln/>
        </p:spPr>
      </p:sp>
      <p:sp>
        <p:nvSpPr>
          <p:cNvPr id="8" name="Text 6"/>
          <p:cNvSpPr/>
          <p:nvPr/>
        </p:nvSpPr>
        <p:spPr>
          <a:xfrm>
            <a:off x="6309360" y="1005840"/>
            <a:ext cx="5303520" cy="256032"/>
          </a:xfrm>
          <a:prstGeom prst="rect">
            <a:avLst/>
          </a:prstGeom>
          <a:noFill/>
          <a:ln/>
        </p:spPr>
        <p:txBody>
          <a:bodyPr wrap="square" lIns="0" tIns="0" rIns="0" bIns="0" rtlCol="0" anchor="ctr"/>
          <a:lstStyle/>
          <a:p>
            <a:pPr indent="0" marL="0">
              <a:buNone/>
            </a:pPr>
            <a:r>
              <a:rPr lang="en-US" sz="1200" b="1" dirty="0">
                <a:solidFill>
                  <a:srgbClr val="B45309"/>
                </a:solidFill>
                <a:latin typeface="Arial" pitchFamily="34" charset="0"/>
                <a:ea typeface="Arial" pitchFamily="34" charset="-122"/>
                <a:cs typeface="Arial" pitchFamily="34" charset="-120"/>
              </a:rPr>
              <a:t>STAGE 2 — FRAMING</a:t>
            </a:r>
            <a:endParaRPr lang="en-US" sz="1200" dirty="0"/>
          </a:p>
        </p:txBody>
      </p:sp>
      <p:sp>
        <p:nvSpPr>
          <p:cNvPr id="9" name="Text 7"/>
          <p:cNvSpPr/>
          <p:nvPr/>
        </p:nvSpPr>
        <p:spPr>
          <a:xfrm>
            <a:off x="6309360" y="1325880"/>
            <a:ext cx="5349240" cy="1783080"/>
          </a:xfrm>
          <a:prstGeom prst="rect">
            <a:avLst/>
          </a:prstGeom>
          <a:noFill/>
          <a:ln/>
        </p:spPr>
        <p:txBody>
          <a:bodyPr wrap="square" lIns="0" tIns="0" rIns="0" bIns="0" rtlCol="0" anchor="ctr"/>
          <a:lstStyle/>
          <a:p>
            <a:pPr indent="0" marL="0">
              <a:buNone/>
            </a:pPr>
            <a:r>
              <a:rPr lang="en-US" sz="1200" dirty="0">
                <a:solidFill>
                  <a:srgbClr val="1E293B"/>
                </a:solidFill>
                <a:latin typeface="Arial" pitchFamily="34" charset="0"/>
                <a:ea typeface="Arial" pitchFamily="34" charset="-122"/>
                <a:cs typeface="Arial" pitchFamily="34" charset="-120"/>
              </a:rPr>
              <a:t>Stakeholder’s decision statement: “[paste]”</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Write a short reply that:</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 Briefly acknowledges what they said</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 Asks one precise clarifying question</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 Offers up to three realistic actions if helpful</a:t>
            </a:r>
            <a:endParaRPr lang="en-US" sz="1200" dirty="0"/>
          </a:p>
          <a:p>
            <a:pPr indent="0" marL="0">
              <a:buNone/>
            </a:pPr>
            <a:r>
              <a:rPr lang="en-US" sz="1200" dirty="0">
                <a:solidFill>
                  <a:srgbClr val="1E293B"/>
                </a:solidFill>
                <a:latin typeface="Arial" pitchFamily="34" charset="0"/>
                <a:ea typeface="Arial" pitchFamily="34" charset="-122"/>
                <a:cs typeface="Arial" pitchFamily="34" charset="-120"/>
              </a:rPr>
              <a:t>Return only the message.</a:t>
            </a:r>
            <a:endParaRPr lang="en-US" sz="1200" dirty="0"/>
          </a:p>
        </p:txBody>
      </p:sp>
      <p:sp>
        <p:nvSpPr>
          <p:cNvPr id="10" name="Shape 8"/>
          <p:cNvSpPr/>
          <p:nvPr/>
        </p:nvSpPr>
        <p:spPr>
          <a:xfrm>
            <a:off x="365760" y="3383280"/>
            <a:ext cx="11430000" cy="1371600"/>
          </a:xfrm>
          <a:prstGeom prst="rect">
            <a:avLst/>
          </a:prstGeom>
          <a:solidFill>
            <a:srgbClr val="0F172A"/>
          </a:solidFill>
          <a:ln/>
        </p:spPr>
      </p:sp>
      <p:sp>
        <p:nvSpPr>
          <p:cNvPr id="11" name="Text 9"/>
          <p:cNvSpPr/>
          <p:nvPr/>
        </p:nvSpPr>
        <p:spPr>
          <a:xfrm>
            <a:off x="502920" y="3474720"/>
            <a:ext cx="10972800" cy="256032"/>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STAGE 3 — DESIGN (highest leverage in my workflow)</a:t>
            </a:r>
            <a:endParaRPr lang="en-US" sz="1200" dirty="0"/>
          </a:p>
        </p:txBody>
      </p:sp>
      <p:sp>
        <p:nvSpPr>
          <p:cNvPr id="12" name="Text 10"/>
          <p:cNvSpPr/>
          <p:nvPr/>
        </p:nvSpPr>
        <p:spPr>
          <a:xfrm>
            <a:off x="502920" y="3840480"/>
            <a:ext cx="1115568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Decision: “[paste]”  →  Design before any SQL: (1) Testable hypothesis  (2) Primary KPI with exact numerator, denominator, population, time window  (3) Unit of analysis  (4) Decision threshold  (5) Key segments  (6) Major confounders  (7) One measurement problem to rule out.</a:t>
            </a:r>
            <a:endParaRPr lang="en-US" sz="1300" dirty="0"/>
          </a:p>
        </p:txBody>
      </p:sp>
      <p:sp>
        <p:nvSpPr>
          <p:cNvPr id="13" name="Shape 11"/>
          <p:cNvSpPr/>
          <p:nvPr/>
        </p:nvSpPr>
        <p:spPr>
          <a:xfrm>
            <a:off x="365760" y="4892040"/>
            <a:ext cx="11430000" cy="1554480"/>
          </a:xfrm>
          <a:prstGeom prst="rect">
            <a:avLst/>
          </a:prstGeom>
          <a:solidFill>
            <a:srgbClr val="F1F5F9"/>
          </a:solidFill>
          <a:ln/>
        </p:spPr>
      </p:sp>
      <p:sp>
        <p:nvSpPr>
          <p:cNvPr id="14" name="Text 12"/>
          <p:cNvSpPr/>
          <p:nvPr/>
        </p:nvSpPr>
        <p:spPr>
          <a:xfrm>
            <a:off x="502920" y="4983480"/>
            <a:ext cx="10972800" cy="256032"/>
          </a:xfrm>
          <a:prstGeom prst="rect">
            <a:avLst/>
          </a:prstGeom>
          <a:noFill/>
          <a:ln/>
        </p:spPr>
        <p:txBody>
          <a:bodyPr wrap="square" lIns="0" tIns="0" rIns="0" bIns="0" rtlCol="0" anchor="ctr"/>
          <a:lstStyle/>
          <a:p>
            <a:pPr indent="0" marL="0">
              <a:buNone/>
            </a:pPr>
            <a:r>
              <a:rPr lang="en-US" sz="1200" b="1" dirty="0">
                <a:solidFill>
                  <a:srgbClr val="B45309"/>
                </a:solidFill>
                <a:latin typeface="Arial" pitchFamily="34" charset="0"/>
                <a:ea typeface="Arial" pitchFamily="34" charset="-122"/>
                <a:cs typeface="Arial" pitchFamily="34" charset="-120"/>
              </a:rPr>
              <a:t>STAGE 5 — FINISH</a:t>
            </a:r>
            <a:endParaRPr lang="en-US" sz="1200" dirty="0"/>
          </a:p>
        </p:txBody>
      </p:sp>
      <p:sp>
        <p:nvSpPr>
          <p:cNvPr id="15" name="Text 13"/>
          <p:cNvSpPr/>
          <p:nvPr/>
        </p:nvSpPr>
        <p:spPr>
          <a:xfrm>
            <a:off x="502920" y="5349240"/>
            <a:ext cx="11155680" cy="96012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Decision + Design + Findings → Decision-ready interpretation:</a:t>
            </a:r>
            <a:endParaRPr lang="en-US" sz="1300" dirty="0"/>
          </a:p>
          <a:p>
            <a:pPr indent="0" marL="0">
              <a:buNone/>
            </a:pPr>
            <a:r>
              <a:rPr lang="en-US" sz="1300" dirty="0">
                <a:solidFill>
                  <a:srgbClr val="1E293B"/>
                </a:solidFill>
                <a:latin typeface="Arial" pitchFamily="34" charset="0"/>
                <a:ea typeface="Arial" pitchFamily="34" charset="-122"/>
                <a:cs typeface="Arial" pitchFamily="34" charset="-120"/>
              </a:rPr>
              <a:t>(1) Direct answer  (2) Strongest evidence  (3) What the evidence does not establish  (4) Most important caveat  (5) Specific recommended action  (6) What to measure next.</a:t>
            </a:r>
            <a:endParaRPr lang="en-US" sz="1300" dirty="0"/>
          </a:p>
          <a:p>
            <a:pPr indent="0" marL="0">
              <a:buNone/>
            </a:pPr>
            <a:r>
              <a:rPr lang="en-US" sz="1300" dirty="0">
                <a:solidFill>
                  <a:srgbClr val="1E293B"/>
                </a:solidFill>
                <a:latin typeface="Arial" pitchFamily="34" charset="0"/>
                <a:ea typeface="Arial" pitchFamily="34" charset="-122"/>
                <a:cs typeface="Arial" pitchFamily="34" charset="-120"/>
              </a:rPr>
              <a:t>Distinguish observation from inference. Do not overclaim.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1554480"/>
            <a:ext cx="10972800" cy="411480"/>
          </a:xfrm>
          <a:prstGeom prst="rect">
            <a:avLst/>
          </a:prstGeom>
          <a:noFill/>
          <a:ln/>
        </p:spPr>
        <p:txBody>
          <a:bodyPr wrap="square" lIns="0" tIns="0" rIns="0" bIns="0" rtlCol="0" anchor="ctr"/>
          <a:lstStyle/>
          <a:p>
            <a:pPr indent="0" marL="0">
              <a:buNone/>
            </a:pPr>
            <a:r>
              <a:rPr lang="en-US" sz="1500" b="1" spc="200" kern="0" dirty="0">
                <a:solidFill>
                  <a:srgbClr val="F59E0B"/>
                </a:solidFill>
                <a:latin typeface="Arial" pitchFamily="34" charset="0"/>
                <a:ea typeface="Arial" pitchFamily="34" charset="-122"/>
                <a:cs typeface="Arial" pitchFamily="34" charset="-120"/>
              </a:rPr>
              <a:t>THE PROFESSIONAL SHIFT</a:t>
            </a:r>
            <a:endParaRPr lang="en-US" sz="1500" dirty="0"/>
          </a:p>
        </p:txBody>
      </p:sp>
      <p:sp>
        <p:nvSpPr>
          <p:cNvPr id="3" name="Text 1"/>
          <p:cNvSpPr/>
          <p:nvPr/>
        </p:nvSpPr>
        <p:spPr>
          <a:xfrm>
            <a:off x="640080" y="2148840"/>
            <a:ext cx="10972800" cy="11887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Not faster reporting.</a:t>
            </a:r>
            <a:endParaRPr lang="en-US" sz="2600" dirty="0"/>
          </a:p>
          <a:p>
            <a:pPr indent="0" marL="0">
              <a:buNone/>
            </a:pPr>
            <a:r>
              <a:rPr lang="en-US" sz="2600" b="1" dirty="0">
                <a:solidFill>
                  <a:srgbClr val="FFFFFF"/>
                </a:solidFill>
                <a:latin typeface="Arial" pitchFamily="34" charset="0"/>
                <a:ea typeface="Arial" pitchFamily="34" charset="-122"/>
                <a:cs typeface="Arial" pitchFamily="34" charset="-120"/>
              </a:rPr>
              <a:t>Better decisions grounded in transparent evidence.</a:t>
            </a:r>
            <a:endParaRPr lang="en-US" sz="2600" dirty="0"/>
          </a:p>
        </p:txBody>
      </p:sp>
      <p:sp>
        <p:nvSpPr>
          <p:cNvPr id="4" name="Text 2"/>
          <p:cNvSpPr/>
          <p:nvPr/>
        </p:nvSpPr>
        <p:spPr>
          <a:xfrm>
            <a:off x="640080" y="3657600"/>
            <a:ext cx="10972800" cy="411480"/>
          </a:xfrm>
          <a:prstGeom prst="rect">
            <a:avLst/>
          </a:prstGeom>
          <a:noFill/>
          <a:ln/>
        </p:spPr>
        <p:txBody>
          <a:bodyPr wrap="square" lIns="0" tIns="0" rIns="0" bIns="0" rtlCol="0" anchor="ctr"/>
          <a:lstStyle/>
          <a:p>
            <a:pPr indent="0" marL="0">
              <a:buNone/>
            </a:pPr>
            <a:r>
              <a:rPr lang="en-US" sz="1700" dirty="0">
                <a:solidFill>
                  <a:srgbClr val="94A3B8"/>
                </a:solidFill>
                <a:latin typeface="Arial" pitchFamily="34" charset="0"/>
                <a:ea typeface="Arial" pitchFamily="34" charset="-122"/>
                <a:cs typeface="Arial" pitchFamily="34" charset="-120"/>
              </a:rPr>
              <a:t>Technical execution  +  Analytical design  +  Disciplined interpretation</a:t>
            </a:r>
            <a:endParaRPr lang="en-US" sz="1700" dirty="0"/>
          </a:p>
        </p:txBody>
      </p:sp>
      <p:sp>
        <p:nvSpPr>
          <p:cNvPr id="5" name="Shape 3"/>
          <p:cNvSpPr/>
          <p:nvPr/>
        </p:nvSpPr>
        <p:spPr>
          <a:xfrm>
            <a:off x="640080" y="4389120"/>
            <a:ext cx="2560320" cy="54864"/>
          </a:xfrm>
          <a:prstGeom prst="rect">
            <a:avLst/>
          </a:prstGeom>
          <a:solidFill>
            <a:srgbClr val="F59E0B"/>
          </a:solidFill>
          <a:ln/>
        </p:spPr>
      </p:sp>
      <p:sp>
        <p:nvSpPr>
          <p:cNvPr id="6" name="Text 4"/>
          <p:cNvSpPr/>
          <p:nvPr/>
        </p:nvSpPr>
        <p:spPr>
          <a:xfrm>
            <a:off x="640080" y="4709160"/>
            <a:ext cx="10515600" cy="822960"/>
          </a:xfrm>
          <a:prstGeom prst="rect">
            <a:avLst/>
          </a:prstGeom>
          <a:noFill/>
          <a:ln/>
        </p:spPr>
        <p:txBody>
          <a:bodyPr wrap="square" lIns="0" tIns="0" rIns="0" bIns="0" rtlCol="0" anchor="ctr"/>
          <a:lstStyle/>
          <a:p>
            <a:pPr indent="0" marL="0">
              <a:buNone/>
            </a:pPr>
            <a:r>
              <a:rPr lang="en-US" sz="1600" dirty="0">
                <a:solidFill>
                  <a:srgbClr val="CBD5E1"/>
                </a:solidFill>
                <a:latin typeface="Arial" pitchFamily="34" charset="0"/>
                <a:ea typeface="Arial" pitchFamily="34" charset="-122"/>
                <a:cs typeface="Arial" pitchFamily="34" charset="-120"/>
              </a:rPr>
              <a:t>AI supports structure and quality control.</a:t>
            </a:r>
            <a:endParaRPr lang="en-US" sz="1600" dirty="0"/>
          </a:p>
          <a:p>
            <a:pPr indent="0" marL="0">
              <a:buNone/>
            </a:pPr>
            <a:r>
              <a:rPr lang="en-US" sz="1600" dirty="0">
                <a:solidFill>
                  <a:srgbClr val="CBD5E1"/>
                </a:solidFill>
                <a:latin typeface="Arial" pitchFamily="34" charset="0"/>
                <a:ea typeface="Arial" pitchFamily="34" charset="-122"/>
                <a:cs typeface="Arial" pitchFamily="34" charset="-120"/>
              </a:rPr>
              <a:t>Human judgment owns the evidence, interpretation, and recommendation.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spc="150" kern="0" dirty="0">
                <a:solidFill>
                  <a:srgbClr val="B45309"/>
                </a:solidFill>
                <a:latin typeface="Arial" pitchFamily="34" charset="0"/>
                <a:ea typeface="Arial" pitchFamily="34" charset="-122"/>
                <a:cs typeface="Arial" pitchFamily="34" charset="-120"/>
              </a:rPr>
              <a:t>MARK CIGANOVIC</a:t>
            </a:r>
            <a:endParaRPr lang="en-US" sz="1300" dirty="0"/>
          </a:p>
        </p:txBody>
      </p:sp>
      <p:sp>
        <p:nvSpPr>
          <p:cNvPr id="3" name="Text 1"/>
          <p:cNvSpPr/>
          <p:nvPr/>
        </p:nvSpPr>
        <p:spPr>
          <a:xfrm>
            <a:off x="548640" y="731520"/>
            <a:ext cx="10972800" cy="457200"/>
          </a:xfrm>
          <a:prstGeom prst="rect">
            <a:avLst/>
          </a:prstGeom>
          <a:noFill/>
          <a:ln/>
        </p:spPr>
        <p:txBody>
          <a:bodyPr wrap="square" lIns="0" tIns="0" rIns="0" bIns="0" rtlCol="0" anchor="ctr"/>
          <a:lstStyle/>
          <a:p>
            <a:pPr indent="0" marL="0">
              <a:buNone/>
            </a:pPr>
            <a:r>
              <a:rPr lang="en-US" sz="2400" b="1" dirty="0">
                <a:solidFill>
                  <a:srgbClr val="0F172A"/>
                </a:solidFill>
                <a:latin typeface="Arial" pitchFamily="34" charset="0"/>
                <a:ea typeface="Arial" pitchFamily="34" charset="-122"/>
                <a:cs typeface="Arial" pitchFamily="34" charset="-120"/>
              </a:rPr>
              <a:t>AI-Augmented Analyst  |  Data &amp; Decision Support</a:t>
            </a:r>
            <a:endParaRPr lang="en-US" sz="2400" dirty="0"/>
          </a:p>
        </p:txBody>
      </p:sp>
      <p:sp>
        <p:nvSpPr>
          <p:cNvPr id="4" name="Text 2"/>
          <p:cNvSpPr/>
          <p:nvPr/>
        </p:nvSpPr>
        <p:spPr>
          <a:xfrm>
            <a:off x="548640" y="1280160"/>
            <a:ext cx="10972800" cy="320040"/>
          </a:xfrm>
          <a:prstGeom prst="rect">
            <a:avLst/>
          </a:prstGeom>
          <a:noFill/>
          <a:ln/>
        </p:spPr>
        <p:txBody>
          <a:bodyPr wrap="square" lIns="0" tIns="0" rIns="0" bIns="0" rtlCol="0" anchor="ctr"/>
          <a:lstStyle/>
          <a:p>
            <a:pPr indent="0" marL="0">
              <a:buNone/>
            </a:pPr>
            <a:r>
              <a:rPr lang="en-US" sz="1600" dirty="0">
                <a:solidFill>
                  <a:srgbClr val="64748B"/>
                </a:solidFill>
                <a:latin typeface="Arial" pitchFamily="34" charset="0"/>
                <a:ea typeface="Arial" pitchFamily="34" charset="-122"/>
                <a:cs typeface="Arial" pitchFamily="34" charset="-120"/>
              </a:rPr>
              <a:t>linkedin.com/in/mark-ciganovic  •  github.com/markjamesc</a:t>
            </a:r>
            <a:endParaRPr lang="en-US" sz="1600" dirty="0"/>
          </a:p>
        </p:txBody>
      </p:sp>
      <p:sp>
        <p:nvSpPr>
          <p:cNvPr id="5" name="Shape 3"/>
          <p:cNvSpPr/>
          <p:nvPr/>
        </p:nvSpPr>
        <p:spPr>
          <a:xfrm>
            <a:off x="548640" y="1783080"/>
            <a:ext cx="11064240" cy="3657600"/>
          </a:xfrm>
          <a:prstGeom prst="rect">
            <a:avLst/>
          </a:prstGeom>
          <a:solidFill>
            <a:srgbClr val="F1F5F9"/>
          </a:solidFill>
          <a:ln/>
        </p:spPr>
      </p:sp>
      <p:sp>
        <p:nvSpPr>
          <p:cNvPr id="6" name="Shape 4"/>
          <p:cNvSpPr/>
          <p:nvPr/>
        </p:nvSpPr>
        <p:spPr>
          <a:xfrm>
            <a:off x="548640" y="1783080"/>
            <a:ext cx="109728" cy="3657600"/>
          </a:xfrm>
          <a:prstGeom prst="rect">
            <a:avLst/>
          </a:prstGeom>
          <a:solidFill>
            <a:srgbClr val="B45309"/>
          </a:solidFill>
          <a:ln/>
        </p:spPr>
      </p:sp>
      <p:sp>
        <p:nvSpPr>
          <p:cNvPr id="7" name="Text 5"/>
          <p:cNvSpPr/>
          <p:nvPr/>
        </p:nvSpPr>
        <p:spPr>
          <a:xfrm>
            <a:off x="914400" y="2057400"/>
            <a:ext cx="10332720" cy="3200400"/>
          </a:xfrm>
          <a:prstGeom prst="rect">
            <a:avLst/>
          </a:prstGeom>
          <a:noFill/>
          <a:ln/>
        </p:spPr>
        <p:txBody>
          <a:bodyPr wrap="square" lIns="0" tIns="0" rIns="0" bIns="0" rtlCol="0" anchor="ctr"/>
          <a:lstStyle/>
          <a:p>
            <a:pPr indent="0" marL="0">
              <a:buNone/>
            </a:pPr>
            <a:r>
              <a:rPr lang="en-US" sz="1700" dirty="0">
                <a:solidFill>
                  <a:srgbClr val="1E293B"/>
                </a:solidFill>
                <a:latin typeface="Arial" pitchFamily="34" charset="0"/>
                <a:ea typeface="Arial" pitchFamily="34" charset="-122"/>
                <a:cs typeface="Arial" pitchFamily="34" charset="-120"/>
              </a:rPr>
              <a:t>Workflow arc: Decision → Design → Evidence → Action</a:t>
            </a:r>
            <a:endParaRPr lang="en-US" sz="1700" dirty="0"/>
          </a:p>
          <a:p>
            <a:pPr indent="0" marL="0">
              <a:buNone/>
            </a:pP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Technical execution + Analytical design + Disciplined interpretation</a:t>
            </a: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 xml:space="preserve"> </a:t>
            </a: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 xml:space="preserve"> </a:t>
            </a:r>
            <a:endParaRPr lang="en-US" sz="1700" dirty="0"/>
          </a:p>
          <a:p>
            <a:pPr indent="0" marL="0">
              <a:buNone/>
            </a:pPr>
            <a:endParaRPr lang="en-US" sz="1700" dirty="0"/>
          </a:p>
          <a:p>
            <a:pPr indent="0" marL="0">
              <a:buNone/>
            </a:pPr>
            <a:r>
              <a:rPr lang="en-US" sz="1700" dirty="0">
                <a:solidFill>
                  <a:srgbClr val="1E293B"/>
                </a:solidFill>
                <a:latin typeface="Arial" pitchFamily="34" charset="0"/>
                <a:ea typeface="Arial" pitchFamily="34" charset="-122"/>
                <a:cs typeface="Arial" pitchFamily="34" charset="-120"/>
              </a:rPr>
              <a:t>Human judgment owns the evidence, interpretation, and recommendation.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Becoming an AI-Augmented Analyst</dc:title>
  <dc:subject>PptxGenJS Presentation</dc:subject>
  <dc:creator>Mark Ciganovic</dc:creator>
  <cp:lastModifiedBy>Mark Ciganovic</cp:lastModifiedBy>
  <cp:revision>1</cp:revision>
  <dcterms:created xsi:type="dcterms:W3CDTF">2026-08-19T20:30:20Z</dcterms:created>
  <dcterms:modified xsi:type="dcterms:W3CDTF">2026-08-19T20:30:20Z</dcterms:modified>
</cp:coreProperties>
</file>